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74" r:id="rId3"/>
    <p:sldId id="268" r:id="rId4"/>
    <p:sldId id="275" r:id="rId5"/>
    <p:sldId id="270" r:id="rId6"/>
    <p:sldId id="269" r:id="rId7"/>
    <p:sldId id="271" r:id="rId8"/>
    <p:sldId id="272" r:id="rId9"/>
    <p:sldId id="257" r:id="rId10"/>
    <p:sldId id="258" r:id="rId11"/>
    <p:sldId id="259" r:id="rId12"/>
    <p:sldId id="261" r:id="rId13"/>
    <p:sldId id="26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285" autoAdjust="0"/>
  </p:normalViewPr>
  <p:slideViewPr>
    <p:cSldViewPr snapToGrid="0">
      <p:cViewPr varScale="1">
        <p:scale>
          <a:sx n="104" d="100"/>
          <a:sy n="104" d="100"/>
        </p:scale>
        <p:origin x="8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43A532-A49C-4712-86C5-939F893B659F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68CD76-CBB9-410D-887B-4987748D72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459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68CD76-CBB9-410D-887B-4987748D72A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124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68CD76-CBB9-410D-887B-4987748D72A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78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68CD76-CBB9-410D-887B-4987748D72A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1490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68CD76-CBB9-410D-887B-4987748D72A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4309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68CD76-CBB9-410D-887B-4987748D72A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1888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68CD76-CBB9-410D-887B-4987748D72A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192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3EB89-6470-B05F-EAC7-4997599F46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BAC9A2-6B32-F139-D7B2-283B344B0C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4A595-4D62-9D9F-C1C1-6B7ADA43F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2B224-FB05-4E21-AA09-9569B1558F99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37210-2DC8-43B5-9742-D9215B5AE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F1F63-6D8E-6F70-DB14-60A3B701D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F83F6-BE53-484B-A9BF-AA3741397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472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E93C2-0509-FD37-7584-21256BDDB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4FFD5-8911-2DBD-DDF1-0F5A2141C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61F56-CC20-3031-FA8C-BF1786EB1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2B224-FB05-4E21-AA09-9569B1558F99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398E3-5CDD-53F7-19E4-047E7571B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63E62-6FA7-D1F1-E60D-1CA34E53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F83F6-BE53-484B-A9BF-AA3741397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726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39BDB-3087-79AE-5BB7-D7C178DC2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E71823-6199-B52D-C980-A1E11738CF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D0873-1CFD-7B58-0B17-CB0348262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2B224-FB05-4E21-AA09-9569B1558F99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A1220-41CE-F300-62FF-C17C3641A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C7DCE-9303-6741-0B93-57DAB13F3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F83F6-BE53-484B-A9BF-AA3741397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464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669B5-715C-1B0D-E444-F939F86D2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76FC1-DE13-123A-5F95-A77F9B18BB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66CADB-DCC2-DDC5-729F-1D7FF0AD7C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771741-37B4-7DDD-42E8-37A81ADB3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2B224-FB05-4E21-AA09-9569B1558F99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702282-83DA-2619-B1E9-6C031446B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FABD77-2DA3-AD11-FB8C-72FC2328F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F83F6-BE53-484B-A9BF-AA3741397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503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DD065-48C6-90A4-C65F-7A75D42EC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410EF-797A-1032-051C-3EF54A95B3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2F32AB-2CFD-73F9-6EB8-430CED91B2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B459A7-3DD5-4BDB-C8EF-EFBAC0A333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2511CA-DB8A-6765-B9BA-549B12700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096B9-AC60-9C00-7BC4-7F748FDBD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2B224-FB05-4E21-AA09-9569B1558F99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F29ABB-1C48-063B-D9CE-C4B0E27A8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284FBE-1ED0-9F8C-DA8E-95C14DDF4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F83F6-BE53-484B-A9BF-AA3741397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602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CA070-71FD-B699-A5C9-19AA4B9E8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EA00E3-910B-C079-B221-DD534F502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2B224-FB05-4E21-AA09-9569B1558F99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90A9AD-F0DA-B648-7F5D-B5EE2BD65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7F3AE1-99BD-ACBD-527F-14DBC4A36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F83F6-BE53-484B-A9BF-AA3741397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89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FF8AB2-CABA-E1B8-6607-045C2C778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2B224-FB05-4E21-AA09-9569B1558F99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CB9141-E961-4472-7D54-5C815AE65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4C2A08-1675-9050-3BDB-8C0AD8D99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F83F6-BE53-484B-A9BF-AA3741397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807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ABF10-E937-BAA7-151D-3272E44EB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B963D-189F-70D3-C4B9-240157DF54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1128F7-FF82-9CDF-0D02-5D4ECE7048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ACE2D2-5A2C-3714-891C-AFCF599B1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2B224-FB05-4E21-AA09-9569B1558F99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6D4448-730B-CF4E-0AF8-DAEBC2E32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31B203-6CB2-57D3-12E2-DB05BC91D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F83F6-BE53-484B-A9BF-AA3741397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075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E2DB1-C563-4F4B-7CB4-FB58550E8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868F95-E679-F032-2E2B-35511E8D5D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7E07DA-B54C-E42B-8B3C-645015A07A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2F35A9-07BC-F7F4-7534-D39848769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2B224-FB05-4E21-AA09-9569B1558F99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819CBC-B747-A711-707F-E71ED4B72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1743E-188E-C637-E4BD-66E7CC49D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F83F6-BE53-484B-A9BF-AA3741397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968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160CE-D332-DD86-CBF5-C135BF6DB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F33E10-EF90-16D0-B04F-A4455C9AF3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00C34-5F9A-2F51-FB94-4C68534A6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2B224-FB05-4E21-AA09-9569B1558F99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491F4-3085-33D8-E994-A396F322C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A2C91-541B-A25B-A5D9-E04552EF7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F83F6-BE53-484B-A9BF-AA3741397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558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DDC1A8-6D98-A1D2-4BAF-E4C67773F1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DF5BE0-A2B2-F45F-B086-A738A3FCE8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1023F-BD91-06AC-3B23-B565EE97E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2B224-FB05-4E21-AA09-9569B1558F99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F03DF-BEDA-301A-9AF1-EAF1219AB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4EC2D-348A-0878-94D8-8B716165C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F83F6-BE53-484B-A9BF-AA3741397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867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E96C57-DC3E-9518-D661-66CE673DB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E11D77-2F2D-57F2-A1B5-1F2C6817A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27245-89BD-5895-923F-636F33F792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02B224-FB05-4E21-AA09-9569B1558F99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98D9C-E270-D0EC-0A27-6E3AFAFA70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F5B09-865F-6934-1149-2E075AE134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4F83F6-BE53-484B-A9BF-AA3741397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745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elif.ceyhan@marmara.edu.t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 5">
            <a:extLst>
              <a:ext uri="{FF2B5EF4-FFF2-40B4-BE49-F238E27FC236}">
                <a16:creationId xmlns:a16="http://schemas.microsoft.com/office/drawing/2014/main" id="{70E980C5-16B7-B15E-3BBC-DC1D39F404E8}"/>
              </a:ext>
            </a:extLst>
          </p:cNvPr>
          <p:cNvSpPr/>
          <p:nvPr/>
        </p:nvSpPr>
        <p:spPr>
          <a:xfrm>
            <a:off x="0" y="6014683"/>
            <a:ext cx="12192000" cy="876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Başlık 1">
            <a:extLst>
              <a:ext uri="{FF2B5EF4-FFF2-40B4-BE49-F238E27FC236}">
                <a16:creationId xmlns:a16="http://schemas.microsoft.com/office/drawing/2014/main" id="{19312E0B-5EF1-46DC-692B-39473E987BFC}"/>
              </a:ext>
            </a:extLst>
          </p:cNvPr>
          <p:cNvSpPr>
            <a:spLocks noGrp="1"/>
          </p:cNvSpPr>
          <p:nvPr/>
        </p:nvSpPr>
        <p:spPr>
          <a:xfrm>
            <a:off x="514350" y="339285"/>
            <a:ext cx="113792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 err="1"/>
              <a:t>Statistics</a:t>
            </a:r>
            <a:r>
              <a:rPr lang="tr-TR" sz="4000" dirty="0"/>
              <a:t> </a:t>
            </a:r>
            <a:r>
              <a:rPr lang="tr-TR" sz="4000" dirty="0" err="1"/>
              <a:t>for</a:t>
            </a:r>
            <a:r>
              <a:rPr lang="tr-TR" sz="4000" dirty="0"/>
              <a:t> </a:t>
            </a:r>
            <a:r>
              <a:rPr lang="tr-TR" sz="4000" dirty="0" err="1"/>
              <a:t>Social</a:t>
            </a:r>
            <a:r>
              <a:rPr lang="tr-TR" sz="4000" dirty="0"/>
              <a:t> </a:t>
            </a:r>
            <a:r>
              <a:rPr lang="tr-TR" sz="4000" dirty="0" err="1"/>
              <a:t>Science</a:t>
            </a:r>
            <a:endParaRPr lang="en-US" sz="4000" dirty="0"/>
          </a:p>
        </p:txBody>
      </p:sp>
      <p:sp>
        <p:nvSpPr>
          <p:cNvPr id="6" name="Alt Başlık 2">
            <a:extLst>
              <a:ext uri="{FF2B5EF4-FFF2-40B4-BE49-F238E27FC236}">
                <a16:creationId xmlns:a16="http://schemas.microsoft.com/office/drawing/2014/main" id="{D5586D4D-0B00-3272-90FC-74604F1A2006}"/>
              </a:ext>
            </a:extLst>
          </p:cNvPr>
          <p:cNvSpPr>
            <a:spLocks noGrp="1"/>
          </p:cNvSpPr>
          <p:nvPr/>
        </p:nvSpPr>
        <p:spPr>
          <a:xfrm>
            <a:off x="946150" y="3075341"/>
            <a:ext cx="10414000" cy="1518443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4000" dirty="0"/>
              <a:t>Week 2</a:t>
            </a:r>
            <a:br>
              <a:rPr lang="en-US" sz="4000" dirty="0"/>
            </a:br>
            <a:endParaRPr lang="en-US" sz="4000" dirty="0"/>
          </a:p>
          <a:p>
            <a:r>
              <a:rPr sz="3500" b="1" i="1" dirty="0"/>
              <a:t>Getting to Know and Transforming Data: Descriptive Statistics and Data Preparation</a:t>
            </a:r>
            <a:endParaRPr lang="en-US" sz="4000" dirty="0"/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5A2D862D-B8C4-2346-A023-C5374A7EDA99}"/>
              </a:ext>
            </a:extLst>
          </p:cNvPr>
          <p:cNvSpPr txBox="1">
            <a:spLocks/>
          </p:cNvSpPr>
          <p:nvPr/>
        </p:nvSpPr>
        <p:spPr>
          <a:xfrm>
            <a:off x="0" y="6190102"/>
            <a:ext cx="12192000" cy="525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Elif Ceyhan | </a:t>
            </a:r>
            <a:r>
              <a:rPr lang="en-US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elif.ceyhan@marmara.edu.tr</a:t>
            </a:r>
            <a:r>
              <a:rPr lang="en-US" dirty="0">
                <a:solidFill>
                  <a:schemeClr val="bg1"/>
                </a:solidFill>
              </a:rPr>
              <a:t> | Office: C733</a:t>
            </a:r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45D05405-4B68-C3C5-849B-722CAB3833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700" y="5423340"/>
            <a:ext cx="1104900" cy="109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754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D6CDC-8F38-5DDD-038B-B42DD34E2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Outline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8E409-D6F5-9161-1529-CA181EF0D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15526" cy="4351338"/>
          </a:xfrm>
        </p:spPr>
        <p:txBody>
          <a:bodyPr>
            <a:normAutofit/>
          </a:bodyPr>
          <a:lstStyle/>
          <a:p>
            <a:r>
              <a:rPr lang="en-US" dirty="0"/>
              <a:t>Levels of measurement</a:t>
            </a:r>
            <a:endParaRPr lang="tr-TR" dirty="0"/>
          </a:p>
          <a:p>
            <a:r>
              <a:rPr lang="en-US" dirty="0"/>
              <a:t>Introduction to SPSS</a:t>
            </a:r>
            <a:endParaRPr lang="tr-TR" dirty="0"/>
          </a:p>
          <a:p>
            <a:r>
              <a:rPr lang="en-US" dirty="0"/>
              <a:t>Type vs. Measure in SPSS</a:t>
            </a:r>
            <a:endParaRPr lang="tr-TR" dirty="0"/>
          </a:p>
          <a:p>
            <a:r>
              <a:rPr lang="en-US" dirty="0"/>
              <a:t>Missing values</a:t>
            </a:r>
            <a:endParaRPr lang="tr-TR" dirty="0"/>
          </a:p>
          <a:p>
            <a:endParaRPr lang="tr-TR" dirty="0"/>
          </a:p>
          <a:p>
            <a:endParaRPr lang="tr-TR" dirty="0"/>
          </a:p>
          <a:p>
            <a:r>
              <a:rPr lang="tr-TR" dirty="0" err="1"/>
              <a:t>Practise</a:t>
            </a:r>
            <a:endParaRPr lang="en-US" dirty="0"/>
          </a:p>
        </p:txBody>
      </p:sp>
      <p:sp>
        <p:nvSpPr>
          <p:cNvPr id="5" name="Dikdörtgen 5">
            <a:extLst>
              <a:ext uri="{FF2B5EF4-FFF2-40B4-BE49-F238E27FC236}">
                <a16:creationId xmlns:a16="http://schemas.microsoft.com/office/drawing/2014/main" id="{6C526F72-2AC5-1208-E910-A783BD423A17}"/>
              </a:ext>
            </a:extLst>
          </p:cNvPr>
          <p:cNvSpPr/>
          <p:nvPr/>
        </p:nvSpPr>
        <p:spPr>
          <a:xfrm>
            <a:off x="0" y="6054725"/>
            <a:ext cx="12192000" cy="876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082B09D4-F2C5-B654-6C73-54A35B8A6414}"/>
              </a:ext>
            </a:extLst>
          </p:cNvPr>
          <p:cNvSpPr txBox="1">
            <a:spLocks/>
          </p:cNvSpPr>
          <p:nvPr/>
        </p:nvSpPr>
        <p:spPr>
          <a:xfrm>
            <a:off x="11461898" y="6300086"/>
            <a:ext cx="627321" cy="525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>
                <a:solidFill>
                  <a:schemeClr val="bg1"/>
                </a:solidFill>
              </a:rPr>
              <a:t>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CF8FB0D-559D-AE46-03BA-051F7ACB205D}"/>
              </a:ext>
            </a:extLst>
          </p:cNvPr>
          <p:cNvSpPr txBox="1">
            <a:spLocks/>
          </p:cNvSpPr>
          <p:nvPr/>
        </p:nvSpPr>
        <p:spPr>
          <a:xfrm>
            <a:off x="6037848" y="1843272"/>
            <a:ext cx="591552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Frequencies</a:t>
            </a:r>
          </a:p>
          <a:p>
            <a:r>
              <a:rPr lang="en-US" dirty="0"/>
              <a:t>Descriptives and z-scores</a:t>
            </a:r>
          </a:p>
          <a:p>
            <a:r>
              <a:rPr lang="en-US" dirty="0"/>
              <a:t>Recode into Different Variables</a:t>
            </a:r>
          </a:p>
          <a:p>
            <a:r>
              <a:rPr lang="en-US" dirty="0"/>
              <a:t>Compute Variable (with If)</a:t>
            </a:r>
          </a:p>
          <a:p>
            <a:endParaRPr lang="tr-TR" dirty="0"/>
          </a:p>
          <a:p>
            <a:endParaRPr lang="tr-T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0919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35459-70FC-F900-930F-4471FC56D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Variables and Units of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B2BAE-79E6-7293-343E-2F17856EF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58487"/>
          </a:xfrm>
        </p:spPr>
        <p:txBody>
          <a:bodyPr/>
          <a:lstStyle/>
          <a:p>
            <a:r>
              <a:rPr sz="2400" b="1" dirty="0"/>
              <a:t>Unit of analysis: </a:t>
            </a:r>
            <a:r>
              <a:rPr sz="2400" dirty="0"/>
              <a:t>who or what we collect data about – individuals, households, regions</a:t>
            </a:r>
            <a:endParaRPr lang="en-US" dirty="0"/>
          </a:p>
          <a:p>
            <a:r>
              <a:rPr sz="2400" b="1" dirty="0"/>
              <a:t>Variable: </a:t>
            </a:r>
            <a:r>
              <a:rPr sz="2400" dirty="0"/>
              <a:t>a characteristic of the unit that varies across units – sex, age, education</a:t>
            </a:r>
            <a:endParaRPr lang="en-US" dirty="0"/>
          </a:p>
          <a:p>
            <a:r>
              <a:rPr sz="2400" b="1" dirty="0"/>
              <a:t>Values: </a:t>
            </a:r>
            <a:r>
              <a:rPr sz="2400" dirty="0"/>
              <a:t>what a variable takes for each unit – e.g., 1 = Female, 2 = Male; 34 years</a:t>
            </a:r>
            <a:endParaRPr lang="en-US" dirty="0"/>
          </a:p>
          <a:p>
            <a:r>
              <a:rPr sz="2400" b="1" dirty="0"/>
              <a:t>In a data set: </a:t>
            </a:r>
            <a:r>
              <a:rPr sz="2400" dirty="0"/>
              <a:t>rows are units (cases), columns are variables</a:t>
            </a:r>
            <a:r>
              <a:rPr lang="tr-TR" sz="2400" dirty="0"/>
              <a:t> </a:t>
            </a:r>
            <a:r>
              <a:rPr lang="tr-TR" sz="2400" b="1" dirty="0"/>
              <a:t>(</a:t>
            </a:r>
            <a:r>
              <a:rPr lang="tr-TR" sz="2400" b="1" dirty="0" err="1"/>
              <a:t>variable-case</a:t>
            </a:r>
            <a:r>
              <a:rPr lang="tr-TR" sz="2400" b="1" dirty="0"/>
              <a:t> </a:t>
            </a:r>
            <a:r>
              <a:rPr lang="tr-TR" sz="2400" b="1" dirty="0" err="1"/>
              <a:t>matrix</a:t>
            </a:r>
            <a:r>
              <a:rPr lang="tr-TR" sz="2400" b="1" dirty="0"/>
              <a:t>)</a:t>
            </a:r>
            <a:endParaRPr lang="en-US" b="1" dirty="0"/>
          </a:p>
        </p:txBody>
      </p:sp>
      <p:sp>
        <p:nvSpPr>
          <p:cNvPr id="5" name="Dikdörtgen 5">
            <a:extLst>
              <a:ext uri="{FF2B5EF4-FFF2-40B4-BE49-F238E27FC236}">
                <a16:creationId xmlns:a16="http://schemas.microsoft.com/office/drawing/2014/main" id="{4B37D456-C99D-0B84-101F-D7963F1F9E92}"/>
              </a:ext>
            </a:extLst>
          </p:cNvPr>
          <p:cNvSpPr/>
          <p:nvPr/>
        </p:nvSpPr>
        <p:spPr>
          <a:xfrm>
            <a:off x="0" y="6054725"/>
            <a:ext cx="12192000" cy="876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Alt Başlık 2">
            <a:extLst>
              <a:ext uri="{FF2B5EF4-FFF2-40B4-BE49-F238E27FC236}">
                <a16:creationId xmlns:a16="http://schemas.microsoft.com/office/drawing/2014/main" id="{F78871A7-AD47-9358-998C-4D5BEC1B26C8}"/>
              </a:ext>
            </a:extLst>
          </p:cNvPr>
          <p:cNvSpPr txBox="1">
            <a:spLocks/>
          </p:cNvSpPr>
          <p:nvPr/>
        </p:nvSpPr>
        <p:spPr>
          <a:xfrm>
            <a:off x="11461898" y="6300086"/>
            <a:ext cx="627321" cy="525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>
                <a:solidFill>
                  <a:schemeClr val="bg1"/>
                </a:solidFill>
              </a:rPr>
              <a:t>2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8308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FD430-FA92-5E06-588D-2EC020D78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Naming</a:t>
            </a:r>
            <a:r>
              <a:rPr lang="tr-TR" dirty="0"/>
              <a:t> </a:t>
            </a:r>
            <a:r>
              <a:rPr lang="tr-TR" dirty="0" err="1"/>
              <a:t>your</a:t>
            </a:r>
            <a:r>
              <a:rPr lang="tr-TR" dirty="0"/>
              <a:t> </a:t>
            </a:r>
            <a:r>
              <a:rPr lang="tr-TR" dirty="0" err="1"/>
              <a:t>variable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BE292-04A3-14E8-44C9-0E29F8AB8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No </a:t>
            </a:r>
            <a:r>
              <a:rPr lang="tr-TR" dirty="0" err="1"/>
              <a:t>Turkish</a:t>
            </a:r>
            <a:r>
              <a:rPr lang="tr-TR" dirty="0"/>
              <a:t> </a:t>
            </a:r>
            <a:r>
              <a:rPr lang="tr-TR" dirty="0" err="1"/>
              <a:t>characters</a:t>
            </a:r>
            <a:endParaRPr lang="tr-TR" dirty="0"/>
          </a:p>
          <a:p>
            <a:r>
              <a:rPr lang="tr-TR" dirty="0" err="1"/>
              <a:t>Don’t</a:t>
            </a:r>
            <a:r>
              <a:rPr lang="tr-TR" dirty="0"/>
              <a:t> start </a:t>
            </a:r>
            <a:r>
              <a:rPr lang="tr-TR" dirty="0" err="1"/>
              <a:t>with</a:t>
            </a:r>
            <a:r>
              <a:rPr lang="tr-TR" dirty="0"/>
              <a:t> a </a:t>
            </a:r>
            <a:r>
              <a:rPr lang="tr-TR" dirty="0" err="1"/>
              <a:t>number</a:t>
            </a:r>
            <a:endParaRPr lang="tr-TR" dirty="0"/>
          </a:p>
          <a:p>
            <a:r>
              <a:rPr lang="tr-TR" dirty="0"/>
              <a:t>No </a:t>
            </a:r>
            <a:r>
              <a:rPr lang="tr-TR" dirty="0" err="1"/>
              <a:t>spaces</a:t>
            </a:r>
            <a:endParaRPr lang="en-US" dirty="0"/>
          </a:p>
        </p:txBody>
      </p:sp>
      <p:sp>
        <p:nvSpPr>
          <p:cNvPr id="5" name="Dikdörtgen 5">
            <a:extLst>
              <a:ext uri="{FF2B5EF4-FFF2-40B4-BE49-F238E27FC236}">
                <a16:creationId xmlns:a16="http://schemas.microsoft.com/office/drawing/2014/main" id="{7D603249-7E97-D2E2-72CA-0F0FF0B61477}"/>
              </a:ext>
            </a:extLst>
          </p:cNvPr>
          <p:cNvSpPr/>
          <p:nvPr/>
        </p:nvSpPr>
        <p:spPr>
          <a:xfrm>
            <a:off x="0" y="6054725"/>
            <a:ext cx="12192000" cy="876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61E4C9AA-1102-9768-5E22-3C867B282BBE}"/>
              </a:ext>
            </a:extLst>
          </p:cNvPr>
          <p:cNvSpPr txBox="1">
            <a:spLocks/>
          </p:cNvSpPr>
          <p:nvPr/>
        </p:nvSpPr>
        <p:spPr>
          <a:xfrm>
            <a:off x="11461898" y="6300086"/>
            <a:ext cx="627321" cy="525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458852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35459-70FC-F900-930F-4471FC56D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Type ≠ Measure in SPSS</a:t>
            </a:r>
          </a:p>
        </p:txBody>
      </p:sp>
      <p:sp>
        <p:nvSpPr>
          <p:cNvPr id="5" name="Dikdörtgen 5">
            <a:extLst>
              <a:ext uri="{FF2B5EF4-FFF2-40B4-BE49-F238E27FC236}">
                <a16:creationId xmlns:a16="http://schemas.microsoft.com/office/drawing/2014/main" id="{4B37D456-C99D-0B84-101F-D7963F1F9E92}"/>
              </a:ext>
            </a:extLst>
          </p:cNvPr>
          <p:cNvSpPr/>
          <p:nvPr/>
        </p:nvSpPr>
        <p:spPr>
          <a:xfrm>
            <a:off x="0" y="6054725"/>
            <a:ext cx="12192000" cy="876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Alt Başlık 2">
            <a:extLst>
              <a:ext uri="{FF2B5EF4-FFF2-40B4-BE49-F238E27FC236}">
                <a16:creationId xmlns:a16="http://schemas.microsoft.com/office/drawing/2014/main" id="{F78871A7-AD47-9358-998C-4D5BEC1B26C8}"/>
              </a:ext>
            </a:extLst>
          </p:cNvPr>
          <p:cNvSpPr txBox="1">
            <a:spLocks/>
          </p:cNvSpPr>
          <p:nvPr/>
        </p:nvSpPr>
        <p:spPr>
          <a:xfrm>
            <a:off x="11461898" y="6300086"/>
            <a:ext cx="627321" cy="525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>
                <a:solidFill>
                  <a:schemeClr val="bg1"/>
                </a:solidFill>
              </a:rPr>
              <a:t>4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46607" y="1828800"/>
            <a:ext cx="5120640" cy="2377440"/>
          </a:xfrm>
          <a:prstGeom prst="roundRect">
            <a:avLst>
              <a:gd name="adj" fmla="val 6000"/>
            </a:avLst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6647" y="2011680"/>
            <a:ext cx="4480559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chemeClr val="accent1"/>
                </a:solidFill>
              </a:rPr>
              <a:t>SPSS: TYPE</a:t>
            </a:r>
          </a:p>
          <a:p>
            <a:pPr algn="l">
              <a:spcAft>
                <a:spcPts val="1000"/>
              </a:spcAft>
            </a:pPr>
            <a:r>
              <a:rPr sz="2400" b="1" i="0"/>
              <a:t>How the value is stored</a:t>
            </a:r>
          </a:p>
          <a:p>
            <a:pPr algn="l">
              <a:spcAft>
                <a:spcPts val="1200"/>
              </a:spcAft>
            </a:pPr>
            <a:r>
              <a:rPr sz="2200" b="0" i="0"/>
              <a:t>Numeric  ·  String  ·  Date</a:t>
            </a:r>
          </a:p>
          <a:p>
            <a:pPr algn="l">
              <a:spcAft>
                <a:spcPts val="400"/>
              </a:spcAft>
            </a:pPr>
            <a:r>
              <a:rPr sz="1800" b="0" i="1"/>
              <a:t>→ What the software can calculate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4447" y="1828800"/>
            <a:ext cx="5120640" cy="2377440"/>
          </a:xfrm>
          <a:prstGeom prst="roundRect">
            <a:avLst>
              <a:gd name="adj" fmla="val 6000"/>
            </a:avLst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44487" y="2011680"/>
            <a:ext cx="4480559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chemeClr val="accent1"/>
                </a:solidFill>
              </a:rPr>
              <a:t>SPSS: MEASURE</a:t>
            </a:r>
          </a:p>
          <a:p>
            <a:pPr algn="l">
              <a:spcAft>
                <a:spcPts val="1000"/>
              </a:spcAft>
            </a:pPr>
            <a:r>
              <a:rPr sz="2400" b="1" i="0"/>
              <a:t>What the value means</a:t>
            </a:r>
          </a:p>
          <a:p>
            <a:pPr algn="l">
              <a:spcAft>
                <a:spcPts val="1200"/>
              </a:spcAft>
            </a:pPr>
            <a:r>
              <a:rPr sz="2200" b="0" i="0"/>
              <a:t>Nominal  ·  Ordinal  ·  Scale</a:t>
            </a:r>
          </a:p>
          <a:p>
            <a:pPr algn="l">
              <a:spcAft>
                <a:spcPts val="400"/>
              </a:spcAft>
            </a:pPr>
            <a:r>
              <a:rPr sz="1800" b="0" i="1"/>
              <a:t>→ What it makes sense to calculate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6607" y="4480560"/>
            <a:ext cx="1069848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 dirty="0"/>
              <a:t>Example: sex coded 1 = Female, 2 = Male is Numeric, but still Nominal. SPSS will happily report a mean of 1.52 – it just means nothing.</a:t>
            </a:r>
          </a:p>
        </p:txBody>
      </p:sp>
    </p:spTree>
    <p:extLst>
      <p:ext uri="{BB962C8B-B14F-4D97-AF65-F5344CB8AC3E}">
        <p14:creationId xmlns:p14="http://schemas.microsoft.com/office/powerpoint/2010/main" val="2038308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35459-70FC-F900-930F-4471FC56D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Levels of Measurement</a:t>
            </a:r>
          </a:p>
        </p:txBody>
      </p:sp>
      <p:sp>
        <p:nvSpPr>
          <p:cNvPr id="5" name="Dikdörtgen 5">
            <a:extLst>
              <a:ext uri="{FF2B5EF4-FFF2-40B4-BE49-F238E27FC236}">
                <a16:creationId xmlns:a16="http://schemas.microsoft.com/office/drawing/2014/main" id="{4B37D456-C99D-0B84-101F-D7963F1F9E92}"/>
              </a:ext>
            </a:extLst>
          </p:cNvPr>
          <p:cNvSpPr/>
          <p:nvPr/>
        </p:nvSpPr>
        <p:spPr>
          <a:xfrm>
            <a:off x="0" y="6054725"/>
            <a:ext cx="12192000" cy="876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Alt Başlık 2">
            <a:extLst>
              <a:ext uri="{FF2B5EF4-FFF2-40B4-BE49-F238E27FC236}">
                <a16:creationId xmlns:a16="http://schemas.microsoft.com/office/drawing/2014/main" id="{F78871A7-AD47-9358-998C-4D5BEC1B26C8}"/>
              </a:ext>
            </a:extLst>
          </p:cNvPr>
          <p:cNvSpPr txBox="1">
            <a:spLocks/>
          </p:cNvSpPr>
          <p:nvPr/>
        </p:nvSpPr>
        <p:spPr>
          <a:xfrm>
            <a:off x="11461898" y="6300086"/>
            <a:ext cx="627321" cy="525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>
                <a:solidFill>
                  <a:schemeClr val="bg1"/>
                </a:solidFill>
              </a:rPr>
              <a:t>5</a:t>
            </a: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5936749"/>
              </p:ext>
            </p:extLst>
          </p:nvPr>
        </p:nvGraphicFramePr>
        <p:xfrm>
          <a:off x="518160" y="1436370"/>
          <a:ext cx="11155679" cy="3741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500" b="1"/>
                        <a:t>Level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r>
                        <a:rPr sz="1500" b="1"/>
                        <a:t>What the values tell us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r>
                        <a:rPr sz="1500" b="1"/>
                        <a:t>Examples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r>
                        <a:rPr sz="1500" b="1" dirty="0"/>
                        <a:t>What is meaningful</a:t>
                      </a:r>
                    </a:p>
                  </a:txBody>
                  <a:tcPr marL="109728" marR="10972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600" b="1"/>
                        <a:t>Nominal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r>
                        <a:rPr sz="1600" b="0"/>
                        <a:t>Categories only – no order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r>
                        <a:rPr sz="1600" b="0"/>
                        <a:t>Sex, region, department, type of housing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r>
                        <a:rPr sz="1600" b="0" dirty="0"/>
                        <a:t>Counts, %, mode</a:t>
                      </a:r>
                    </a:p>
                  </a:txBody>
                  <a:tcPr marL="109728" marR="10972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600" b="1"/>
                        <a:t>Ordinal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r>
                        <a:rPr sz="1600" b="0"/>
                        <a:t>Ordered categories – distances unknown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r>
                        <a:rPr sz="1600" b="0"/>
                        <a:t>Education level, class year, life satisfaction (1–5)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r>
                        <a:rPr sz="1600" b="0"/>
                        <a:t>+ median, percentiles</a:t>
                      </a:r>
                    </a:p>
                  </a:txBody>
                  <a:tcPr marL="109728" marR="10972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600" b="1"/>
                        <a:t>Interval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r>
                        <a:rPr sz="1600" b="0"/>
                        <a:t>Equal distances – no true zero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r>
                        <a:rPr sz="1600" b="0" dirty="0"/>
                        <a:t>Temperature (°C)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r>
                        <a:rPr sz="1600" b="0"/>
                        <a:t>+ mean, SD, differences</a:t>
                      </a:r>
                    </a:p>
                  </a:txBody>
                  <a:tcPr marL="109728" marR="10972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600" b="1"/>
                        <a:t>Ratio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r>
                        <a:rPr sz="1600" b="0" dirty="0"/>
                        <a:t>Equal distances and a true zero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r>
                        <a:rPr sz="1600" b="0" dirty="0"/>
                        <a:t>Age, monthly income, commuting time, number of children</a:t>
                      </a:r>
                      <a:endParaRPr lang="tr-TR" sz="1600" b="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600" b="0" dirty="0" err="1"/>
                        <a:t>Example</a:t>
                      </a:r>
                      <a:r>
                        <a:rPr lang="tr-TR" sz="1600" b="0" dirty="0"/>
                        <a:t>: «</a:t>
                      </a:r>
                      <a:r>
                        <a:rPr lang="en-US" sz="1600" dirty="0"/>
                        <a:t>who is forty is twice as old as someone who is twenty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r>
                        <a:rPr sz="1600" b="0" dirty="0"/>
                        <a:t>+ ratios ("twice as much")</a:t>
                      </a:r>
                      <a:endParaRPr lang="tr-TR" sz="1600" b="0" dirty="0"/>
                    </a:p>
                    <a:p>
                      <a:endParaRPr sz="1600" b="0" dirty="0"/>
                    </a:p>
                  </a:txBody>
                  <a:tcPr marL="109728" marR="10972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18159" y="5491606"/>
            <a:ext cx="1115568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 SPSS, interval and ratio share one label: Scale.</a:t>
            </a:r>
          </a:p>
        </p:txBody>
      </p:sp>
    </p:spTree>
    <p:extLst>
      <p:ext uri="{BB962C8B-B14F-4D97-AF65-F5344CB8AC3E}">
        <p14:creationId xmlns:p14="http://schemas.microsoft.com/office/powerpoint/2010/main" val="2038308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35459-70FC-F900-930F-4471FC56D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Your Turn: Which Level?</a:t>
            </a:r>
          </a:p>
        </p:txBody>
      </p:sp>
      <p:sp>
        <p:nvSpPr>
          <p:cNvPr id="5" name="Dikdörtgen 5">
            <a:extLst>
              <a:ext uri="{FF2B5EF4-FFF2-40B4-BE49-F238E27FC236}">
                <a16:creationId xmlns:a16="http://schemas.microsoft.com/office/drawing/2014/main" id="{4B37D456-C99D-0B84-101F-D7963F1F9E92}"/>
              </a:ext>
            </a:extLst>
          </p:cNvPr>
          <p:cNvSpPr/>
          <p:nvPr/>
        </p:nvSpPr>
        <p:spPr>
          <a:xfrm>
            <a:off x="0" y="6054725"/>
            <a:ext cx="12192000" cy="876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Alt Başlık 2">
            <a:extLst>
              <a:ext uri="{FF2B5EF4-FFF2-40B4-BE49-F238E27FC236}">
                <a16:creationId xmlns:a16="http://schemas.microsoft.com/office/drawing/2014/main" id="{F78871A7-AD47-9358-998C-4D5BEC1B26C8}"/>
              </a:ext>
            </a:extLst>
          </p:cNvPr>
          <p:cNvSpPr txBox="1">
            <a:spLocks/>
          </p:cNvSpPr>
          <p:nvPr/>
        </p:nvSpPr>
        <p:spPr>
          <a:xfrm>
            <a:off x="11461898" y="6300086"/>
            <a:ext cx="627321" cy="525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920240"/>
            <a:ext cx="475488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400" b="0" i="0"/>
              <a:t>1.  Respondent ID</a:t>
            </a:r>
          </a:p>
          <a:p>
            <a:pPr algn="l">
              <a:spcAft>
                <a:spcPts val="1400"/>
              </a:spcAft>
            </a:pPr>
            <a:r>
              <a:rPr sz="2400" b="0" i="0"/>
              <a:t>2.  Sex</a:t>
            </a:r>
          </a:p>
          <a:p>
            <a:pPr algn="l">
              <a:spcAft>
                <a:spcPts val="1400"/>
              </a:spcAft>
            </a:pPr>
            <a:r>
              <a:rPr sz="2400" b="0" i="0"/>
              <a:t>3.  Region of residence</a:t>
            </a:r>
          </a:p>
          <a:p>
            <a:pPr algn="l">
              <a:spcAft>
                <a:spcPts val="1400"/>
              </a:spcAft>
            </a:pPr>
            <a:r>
              <a:rPr sz="2400" b="0" i="0"/>
              <a:t>4.  Highest degree completed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475488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400" b="0" i="0"/>
              <a:t>5.  Life satisfaction</a:t>
            </a:r>
          </a:p>
          <a:p>
            <a:pPr algn="l">
              <a:spcAft>
                <a:spcPts val="1400"/>
              </a:spcAft>
            </a:pPr>
            <a:r>
              <a:rPr sz="2400" b="0" i="0"/>
              <a:t>6.  Age in years</a:t>
            </a:r>
          </a:p>
          <a:p>
            <a:pPr algn="l">
              <a:spcAft>
                <a:spcPts val="1400"/>
              </a:spcAft>
            </a:pPr>
            <a:r>
              <a:rPr sz="2400" b="0" i="0"/>
              <a:t>7.  Commuting time (minutes)</a:t>
            </a:r>
          </a:p>
          <a:p>
            <a:pPr algn="l">
              <a:spcAft>
                <a:spcPts val="1400"/>
              </a:spcAft>
            </a:pPr>
            <a:r>
              <a:rPr sz="2400" b="0" i="0"/>
              <a:t>8.  Body mass index (BMI)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257800"/>
            <a:ext cx="9692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1">
                <a:solidFill>
                  <a:schemeClr val="tx1">
                    <a:lumMod val="65000"/>
                    <a:lumOff val="35000"/>
                  </a:schemeClr>
                </a:solidFill>
              </a:rPr>
              <a:t>And why? Would SPSS know the answer on its own?</a:t>
            </a:r>
          </a:p>
        </p:txBody>
      </p:sp>
    </p:spTree>
    <p:extLst>
      <p:ext uri="{BB962C8B-B14F-4D97-AF65-F5344CB8AC3E}">
        <p14:creationId xmlns:p14="http://schemas.microsoft.com/office/powerpoint/2010/main" val="2038308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35459-70FC-F900-930F-4471FC56D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Missing Values: Two Kinds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B2BAE-79E6-7293-343E-2F17856EF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58487"/>
          </a:xfrm>
        </p:spPr>
        <p:txBody>
          <a:bodyPr/>
          <a:lstStyle/>
          <a:p>
            <a:r>
              <a:rPr sz="2400" b="1" dirty="0"/>
              <a:t>System-missing: </a:t>
            </a:r>
            <a:r>
              <a:rPr sz="2400" dirty="0"/>
              <a:t>the cell is empty – no value was recorded (shown as “.” in SPSS)</a:t>
            </a:r>
            <a:endParaRPr lang="en-US" dirty="0"/>
          </a:p>
          <a:p>
            <a:r>
              <a:rPr sz="2400" b="1" dirty="0"/>
              <a:t>User-missing: </a:t>
            </a:r>
            <a:r>
              <a:rPr sz="2400" dirty="0"/>
              <a:t>a value exists (e.g., </a:t>
            </a:r>
            <a:r>
              <a:rPr lang="tr-TR" sz="2400" dirty="0"/>
              <a:t>-</a:t>
            </a:r>
            <a:r>
              <a:rPr sz="2400" dirty="0"/>
              <a:t>98 = Don’t know, </a:t>
            </a:r>
            <a:r>
              <a:rPr lang="tr-TR" sz="2400" dirty="0"/>
              <a:t>-</a:t>
            </a:r>
            <a:r>
              <a:rPr sz="2400" dirty="0"/>
              <a:t>99 = Refused), but we tell SPSS not to use it</a:t>
            </a:r>
            <a:endParaRPr lang="en-US" dirty="0"/>
          </a:p>
          <a:p>
            <a:r>
              <a:rPr sz="2400" b="1" dirty="0"/>
              <a:t>Undefined missing codes are treated as real values: </a:t>
            </a:r>
            <a:r>
              <a:rPr sz="2400" dirty="0"/>
              <a:t>an “age” of </a:t>
            </a:r>
            <a:r>
              <a:rPr lang="tr-TR" sz="2400" dirty="0"/>
              <a:t>-</a:t>
            </a:r>
            <a:r>
              <a:rPr sz="2400" dirty="0"/>
              <a:t>99, a “satisfaction” score of </a:t>
            </a:r>
            <a:r>
              <a:rPr lang="tr-TR" sz="2400" dirty="0"/>
              <a:t>-</a:t>
            </a:r>
            <a:r>
              <a:rPr sz="2400" dirty="0"/>
              <a:t>9</a:t>
            </a:r>
            <a:r>
              <a:rPr lang="en-US" sz="2400" dirty="0"/>
              <a:t>8</a:t>
            </a:r>
            <a:endParaRPr lang="en-US" dirty="0"/>
          </a:p>
          <a:p>
            <a:r>
              <a:rPr sz="2400" b="1" dirty="0"/>
              <a:t>Always ask: </a:t>
            </a:r>
            <a:r>
              <a:rPr sz="2400" dirty="0"/>
              <a:t>did not answer, did not know, or the question did not apply?</a:t>
            </a:r>
            <a:endParaRPr lang="en-US" dirty="0"/>
          </a:p>
        </p:txBody>
      </p:sp>
      <p:sp>
        <p:nvSpPr>
          <p:cNvPr id="5" name="Dikdörtgen 5">
            <a:extLst>
              <a:ext uri="{FF2B5EF4-FFF2-40B4-BE49-F238E27FC236}">
                <a16:creationId xmlns:a16="http://schemas.microsoft.com/office/drawing/2014/main" id="{4B37D456-C99D-0B84-101F-D7963F1F9E92}"/>
              </a:ext>
            </a:extLst>
          </p:cNvPr>
          <p:cNvSpPr/>
          <p:nvPr/>
        </p:nvSpPr>
        <p:spPr>
          <a:xfrm>
            <a:off x="0" y="6054725"/>
            <a:ext cx="12192000" cy="876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Alt Başlık 2">
            <a:extLst>
              <a:ext uri="{FF2B5EF4-FFF2-40B4-BE49-F238E27FC236}">
                <a16:creationId xmlns:a16="http://schemas.microsoft.com/office/drawing/2014/main" id="{F78871A7-AD47-9358-998C-4D5BEC1B26C8}"/>
              </a:ext>
            </a:extLst>
          </p:cNvPr>
          <p:cNvSpPr txBox="1">
            <a:spLocks/>
          </p:cNvSpPr>
          <p:nvPr/>
        </p:nvSpPr>
        <p:spPr>
          <a:xfrm>
            <a:off x="11461898" y="6300086"/>
            <a:ext cx="627321" cy="525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038308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35459-70FC-F900-930F-4471FC56D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Part 2: Describing and Transforming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B2BAE-79E6-7293-343E-2F17856EF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58487"/>
          </a:xfrm>
        </p:spPr>
        <p:txBody>
          <a:bodyPr/>
          <a:lstStyle/>
          <a:p>
            <a:r>
              <a:rPr sz="2800" dirty="0"/>
              <a:t>Frequencies</a:t>
            </a:r>
            <a:endParaRPr lang="en-US" dirty="0"/>
          </a:p>
          <a:p>
            <a:r>
              <a:rPr sz="2800" dirty="0"/>
              <a:t>Descriptives</a:t>
            </a:r>
            <a:endParaRPr lang="en-US" dirty="0"/>
          </a:p>
          <a:p>
            <a:r>
              <a:rPr sz="2800" dirty="0"/>
              <a:t>Transform → Recode into Different Variables</a:t>
            </a:r>
            <a:endParaRPr lang="en-US" dirty="0"/>
          </a:p>
          <a:p>
            <a:r>
              <a:rPr sz="2800" dirty="0"/>
              <a:t>Transform → Compute Variable</a:t>
            </a:r>
            <a:endParaRPr lang="en-US" dirty="0"/>
          </a:p>
        </p:txBody>
      </p:sp>
      <p:sp>
        <p:nvSpPr>
          <p:cNvPr id="5" name="Dikdörtgen 5">
            <a:extLst>
              <a:ext uri="{FF2B5EF4-FFF2-40B4-BE49-F238E27FC236}">
                <a16:creationId xmlns:a16="http://schemas.microsoft.com/office/drawing/2014/main" id="{4B37D456-C99D-0B84-101F-D7963F1F9E92}"/>
              </a:ext>
            </a:extLst>
          </p:cNvPr>
          <p:cNvSpPr/>
          <p:nvPr/>
        </p:nvSpPr>
        <p:spPr>
          <a:xfrm>
            <a:off x="0" y="6054725"/>
            <a:ext cx="12192000" cy="876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Alt Başlık 2">
            <a:extLst>
              <a:ext uri="{FF2B5EF4-FFF2-40B4-BE49-F238E27FC236}">
                <a16:creationId xmlns:a16="http://schemas.microsoft.com/office/drawing/2014/main" id="{F78871A7-AD47-9358-998C-4D5BEC1B26C8}"/>
              </a:ext>
            </a:extLst>
          </p:cNvPr>
          <p:cNvSpPr txBox="1">
            <a:spLocks/>
          </p:cNvSpPr>
          <p:nvPr/>
        </p:nvSpPr>
        <p:spPr>
          <a:xfrm>
            <a:off x="11461898" y="6300086"/>
            <a:ext cx="627321" cy="525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038308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86880-2D51-A135-1DC2-A5C9C3037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Frequencies – Age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E635A54-1937-C5D4-4DA2-1C267C211B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52600" y="1454943"/>
            <a:ext cx="2674757" cy="3948113"/>
          </a:xfrm>
          <a:prstGeom prst="rect">
            <a:avLst/>
          </a:prstGeom>
        </p:spPr>
      </p:pic>
      <p:sp>
        <p:nvSpPr>
          <p:cNvPr id="5" name="Dikdörtgen 5">
            <a:extLst>
              <a:ext uri="{FF2B5EF4-FFF2-40B4-BE49-F238E27FC236}">
                <a16:creationId xmlns:a16="http://schemas.microsoft.com/office/drawing/2014/main" id="{B917FBEA-9BE7-B318-F5D8-2954A75F1814}"/>
              </a:ext>
            </a:extLst>
          </p:cNvPr>
          <p:cNvSpPr/>
          <p:nvPr/>
        </p:nvSpPr>
        <p:spPr>
          <a:xfrm>
            <a:off x="0" y="6054725"/>
            <a:ext cx="12192000" cy="876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95E579AB-D86C-9415-B658-E49BD5A437D2}"/>
              </a:ext>
            </a:extLst>
          </p:cNvPr>
          <p:cNvSpPr txBox="1">
            <a:spLocks/>
          </p:cNvSpPr>
          <p:nvPr/>
        </p:nvSpPr>
        <p:spPr>
          <a:xfrm>
            <a:off x="11461898" y="6300086"/>
            <a:ext cx="627321" cy="525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9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34A952F-54D5-2ADA-B3EB-1906ABB9DC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7593" y="1690688"/>
            <a:ext cx="4305971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821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83E8C-6170-BD62-1443-11985CC30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Frequencies – Commute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6B885B5-4AFF-D3C2-93C9-290972EC36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187029" y="1395412"/>
            <a:ext cx="4598844" cy="4674649"/>
          </a:xfrm>
          <a:prstGeom prst="rect">
            <a:avLst/>
          </a:prstGeom>
        </p:spPr>
      </p:pic>
      <p:sp>
        <p:nvSpPr>
          <p:cNvPr id="5" name="Dikdörtgen 5">
            <a:extLst>
              <a:ext uri="{FF2B5EF4-FFF2-40B4-BE49-F238E27FC236}">
                <a16:creationId xmlns:a16="http://schemas.microsoft.com/office/drawing/2014/main" id="{EBDDDA33-8013-AB45-98FC-FCD0A9FE563B}"/>
              </a:ext>
            </a:extLst>
          </p:cNvPr>
          <p:cNvSpPr/>
          <p:nvPr/>
        </p:nvSpPr>
        <p:spPr>
          <a:xfrm>
            <a:off x="0" y="6054725"/>
            <a:ext cx="12192000" cy="876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5D7BB39B-8AF3-4B73-E990-231214D9BD4A}"/>
              </a:ext>
            </a:extLst>
          </p:cNvPr>
          <p:cNvSpPr txBox="1">
            <a:spLocks/>
          </p:cNvSpPr>
          <p:nvPr/>
        </p:nvSpPr>
        <p:spPr>
          <a:xfrm>
            <a:off x="11461898" y="6300086"/>
            <a:ext cx="627321" cy="525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10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879E123-E36D-C194-33FA-7D82DF8EDC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0785" y="1395412"/>
            <a:ext cx="4205603" cy="458895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4522C4C-7C17-8ACC-A452-FE3E9589DC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3616" y="1986756"/>
            <a:ext cx="5675198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947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95DA3-E0DA-FBE3-21B5-4A6E61113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Descriptives – Save Standardized Values as Variables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5605E7D-50D9-E01C-8D25-34188CC2FF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23900" y="1593686"/>
            <a:ext cx="10515600" cy="1835314"/>
          </a:xfrm>
          <a:prstGeom prst="rect">
            <a:avLst/>
          </a:prstGeom>
        </p:spPr>
      </p:pic>
      <p:sp>
        <p:nvSpPr>
          <p:cNvPr id="5" name="Dikdörtgen 5">
            <a:extLst>
              <a:ext uri="{FF2B5EF4-FFF2-40B4-BE49-F238E27FC236}">
                <a16:creationId xmlns:a16="http://schemas.microsoft.com/office/drawing/2014/main" id="{6A773DAE-3B4F-C815-BA80-D16A14089519}"/>
              </a:ext>
            </a:extLst>
          </p:cNvPr>
          <p:cNvSpPr/>
          <p:nvPr/>
        </p:nvSpPr>
        <p:spPr>
          <a:xfrm>
            <a:off x="0" y="6054725"/>
            <a:ext cx="12192000" cy="876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34C5CBC7-6B2E-0509-6095-BB84B82E1892}"/>
              </a:ext>
            </a:extLst>
          </p:cNvPr>
          <p:cNvSpPr txBox="1">
            <a:spLocks/>
          </p:cNvSpPr>
          <p:nvPr/>
        </p:nvSpPr>
        <p:spPr>
          <a:xfrm>
            <a:off x="11461898" y="6300086"/>
            <a:ext cx="627321" cy="525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11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966D6F-A303-238B-1C05-0CC5BCE825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" y="3416300"/>
            <a:ext cx="1952898" cy="66684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3DF3606-5D8B-BF0C-ECFD-B0C162507F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3815" y="3416300"/>
            <a:ext cx="3534268" cy="346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627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C3669-F737-AA88-47A3-E90A991E6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Transform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1926F-6E12-1AED-856A-D331DAA874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02075"/>
          </a:xfrm>
        </p:spPr>
        <p:txBody>
          <a:bodyPr/>
          <a:lstStyle/>
          <a:p>
            <a:r>
              <a:rPr lang="en-US" dirty="0"/>
              <a:t>Recode into Different Variables</a:t>
            </a:r>
            <a:endParaRPr lang="tr-TR" dirty="0"/>
          </a:p>
          <a:p>
            <a:r>
              <a:rPr lang="tr-TR" dirty="0" err="1"/>
              <a:t>Recode</a:t>
            </a:r>
            <a:r>
              <a:rPr lang="tr-TR" dirty="0"/>
              <a:t> </a:t>
            </a:r>
            <a:r>
              <a:rPr lang="tr-TR" dirty="0" err="1"/>
              <a:t>into</a:t>
            </a:r>
            <a:r>
              <a:rPr lang="tr-TR" dirty="0"/>
              <a:t> </a:t>
            </a:r>
            <a:r>
              <a:rPr lang="tr-TR" dirty="0" err="1"/>
              <a:t>Same</a:t>
            </a:r>
            <a:r>
              <a:rPr lang="tr-TR" dirty="0"/>
              <a:t> </a:t>
            </a:r>
            <a:r>
              <a:rPr lang="tr-TR" dirty="0" err="1"/>
              <a:t>Variable</a:t>
            </a:r>
            <a:endParaRPr lang="tr-TR" dirty="0"/>
          </a:p>
          <a:p>
            <a:r>
              <a:rPr lang="tr-TR" dirty="0" err="1"/>
              <a:t>Compute</a:t>
            </a:r>
            <a:endParaRPr lang="en-US" dirty="0"/>
          </a:p>
        </p:txBody>
      </p:sp>
      <p:sp>
        <p:nvSpPr>
          <p:cNvPr id="5" name="Dikdörtgen 5">
            <a:extLst>
              <a:ext uri="{FF2B5EF4-FFF2-40B4-BE49-F238E27FC236}">
                <a16:creationId xmlns:a16="http://schemas.microsoft.com/office/drawing/2014/main" id="{FD6C82C1-0F76-D78E-5CD4-0122FECFB778}"/>
              </a:ext>
            </a:extLst>
          </p:cNvPr>
          <p:cNvSpPr/>
          <p:nvPr/>
        </p:nvSpPr>
        <p:spPr>
          <a:xfrm>
            <a:off x="0" y="6054725"/>
            <a:ext cx="12192000" cy="876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AF34E463-7668-C0AB-D9BB-D4F450EBD29E}"/>
              </a:ext>
            </a:extLst>
          </p:cNvPr>
          <p:cNvSpPr txBox="1">
            <a:spLocks/>
          </p:cNvSpPr>
          <p:nvPr/>
        </p:nvSpPr>
        <p:spPr>
          <a:xfrm>
            <a:off x="11461898" y="6300086"/>
            <a:ext cx="627321" cy="525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484814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1619</TotalTime>
  <Words>571</Words>
  <Application>Microsoft Office PowerPoint</Application>
  <PresentationFormat>Widescreen</PresentationFormat>
  <Paragraphs>104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Outline</vt:lpstr>
      <vt:lpstr>Variables and Units of Analysis</vt:lpstr>
      <vt:lpstr>Naming your variable</vt:lpstr>
      <vt:lpstr>Type ≠ Measure in SPSS</vt:lpstr>
      <vt:lpstr>Levels of Measurement</vt:lpstr>
      <vt:lpstr>Your Turn: Which Level?</vt:lpstr>
      <vt:lpstr>Missing Values: Two Kinds</vt:lpstr>
      <vt:lpstr>Part 2: Describing and Transforming Data</vt:lpstr>
      <vt:lpstr>Frequencies – Age</vt:lpstr>
      <vt:lpstr>Frequencies – Commute</vt:lpstr>
      <vt:lpstr>Descriptives – Save Standardized Values as Variables</vt:lpstr>
      <vt:lpstr>Transform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Ramazan Ceyhan</dc:creator>
  <cp:lastModifiedBy>Ramazan Ceyhan</cp:lastModifiedBy>
  <cp:revision>78</cp:revision>
  <dcterms:created xsi:type="dcterms:W3CDTF">2026-09-18T16:34:36Z</dcterms:created>
  <dcterms:modified xsi:type="dcterms:W3CDTF">2026-10-15T12:34:49Z</dcterms:modified>
</cp:coreProperties>
</file>