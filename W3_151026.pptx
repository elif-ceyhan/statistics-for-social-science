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4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83" autoAdjust="0"/>
  </p:normalViewPr>
  <p:slideViewPr>
    <p:cSldViewPr snapToGrid="0">
      <p:cViewPr varScale="1">
        <p:scale>
          <a:sx n="69" d="100"/>
          <a:sy n="69" d="100"/>
        </p:scale>
        <p:origin x="66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3A532-A49C-4712-86C5-939F893B65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68CD76-CBB9-410D-887B-4987748D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5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8CD76-CBB9-410D-887B-4987748D72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12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EB89-6470-B05F-EAC7-4997599F4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AC9A2-6B32-F139-D7B2-283B344B0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4A595-4D62-9D9F-C1C1-6B7ADA43F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37210-2DC8-43B5-9742-D9215B5A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F1F63-6D8E-6F70-DB14-60A3B701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72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93C2-0509-FD37-7584-21256BDD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4FFD5-8911-2DBD-DDF1-0F5A2141C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61F56-CC20-3031-FA8C-BF1786EB1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398E3-5CDD-53F7-19E4-047E7571B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63E62-6FA7-D1F1-E60D-1CA34E53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2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9BDB-3087-79AE-5BB7-D7C178DC2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71823-6199-B52D-C980-A1E11738C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D0873-1CFD-7B58-0B17-CB0348262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A1220-41CE-F300-62FF-C17C3641A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C7DCE-9303-6741-0B93-57DAB13F3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6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669B5-715C-1B0D-E444-F939F86D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76FC1-DE13-123A-5F95-A77F9B18BB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66CADB-DCC2-DDC5-729F-1D7FF0AD7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71741-37B4-7DDD-42E8-37A81ADB3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02282-83DA-2619-B1E9-6C031446B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ABD77-2DA3-AD11-FB8C-72FC2328F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503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D065-48C6-90A4-C65F-7A75D42EC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410EF-797A-1032-051C-3EF54A95B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F32AB-2CFD-73F9-6EB8-430CED91B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459A7-3DD5-4BDB-C8EF-EFBAC0A333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2511CA-DB8A-6765-B9BA-549B12700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096B9-AC60-9C00-7BC4-7F748FDBD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F29ABB-1C48-063B-D9CE-C4B0E27A8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284FBE-1ED0-9F8C-DA8E-95C14DDF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602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CA070-71FD-B699-A5C9-19AA4B9E8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EA00E3-910B-C079-B221-DD534F50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0A9AD-F0DA-B648-7F5D-B5EE2BD65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F3AE1-99BD-ACBD-527F-14DBC4A36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FF8AB2-CABA-E1B8-6607-045C2C778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B9141-E961-4472-7D54-5C815AE6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C2A08-1675-9050-3BDB-8C0AD8D99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07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BF10-E937-BAA7-151D-3272E44EB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B963D-189F-70D3-C4B9-240157DF5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128F7-FF82-9CDF-0D02-5D4ECE704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CE2D2-5A2C-3714-891C-AFCF599B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D4448-730B-CF4E-0AF8-DAEBC2E3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1B203-6CB2-57D3-12E2-DB05BC91D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75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E2DB1-C563-4F4B-7CB4-FB58550E8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868F95-E679-F032-2E2B-35511E8D5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E07DA-B54C-E42B-8B3C-645015A07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F35A9-07BC-F7F4-7534-D3984876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19CBC-B747-A711-707F-E71ED4B72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1743E-188E-C637-E4BD-66E7CC49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96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160CE-D332-DD86-CBF5-C135BF6DB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33E10-EF90-16D0-B04F-A4455C9AF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00C34-5F9A-2F51-FB94-4C68534A6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491F4-3085-33D8-E994-A396F322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A2C91-541B-A25B-A5D9-E04552EF7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58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DDC1A8-6D98-A1D2-4BAF-E4C67773F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F5BE0-A2B2-F45F-B086-A738A3FCE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1023F-BD91-06AC-3B23-B565EE97E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F03DF-BEDA-301A-9AF1-EAF1219A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4EC2D-348A-0878-94D8-8B716165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67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E96C57-DC3E-9518-D661-66CE673DB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11D77-2F2D-57F2-A1B5-1F2C6817A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27245-89BD-5895-923F-636F33F79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2B224-FB05-4E21-AA09-9569B1558F9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98D9C-E270-D0EC-0A27-6E3AFAFA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F5B09-865F-6934-1149-2E075AE13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4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lif.ceyhan@marmara.edu.t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5">
            <a:extLst>
              <a:ext uri="{FF2B5EF4-FFF2-40B4-BE49-F238E27FC236}">
                <a16:creationId xmlns:a16="http://schemas.microsoft.com/office/drawing/2014/main" id="{70E980C5-16B7-B15E-3BBC-DC1D39F404E8}"/>
              </a:ext>
            </a:extLst>
          </p:cNvPr>
          <p:cNvSpPr/>
          <p:nvPr/>
        </p:nvSpPr>
        <p:spPr>
          <a:xfrm>
            <a:off x="0" y="6014683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Başlık 1">
            <a:extLst>
              <a:ext uri="{FF2B5EF4-FFF2-40B4-BE49-F238E27FC236}">
                <a16:creationId xmlns:a16="http://schemas.microsoft.com/office/drawing/2014/main" id="{19312E0B-5EF1-46DC-692B-39473E987BFC}"/>
              </a:ext>
            </a:extLst>
          </p:cNvPr>
          <p:cNvSpPr>
            <a:spLocks noGrp="1"/>
          </p:cNvSpPr>
          <p:nvPr/>
        </p:nvSpPr>
        <p:spPr>
          <a:xfrm>
            <a:off x="514350" y="339285"/>
            <a:ext cx="113792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/>
              <a:t>Statistics</a:t>
            </a:r>
            <a:r>
              <a:rPr lang="tr-TR" sz="4000" dirty="0"/>
              <a:t> </a:t>
            </a:r>
            <a:r>
              <a:rPr lang="tr-TR" sz="4000" dirty="0" err="1"/>
              <a:t>for</a:t>
            </a:r>
            <a:r>
              <a:rPr lang="tr-TR" sz="4000" dirty="0"/>
              <a:t> </a:t>
            </a:r>
            <a:r>
              <a:rPr lang="tr-TR" sz="4000" dirty="0" err="1"/>
              <a:t>Social</a:t>
            </a:r>
            <a:r>
              <a:rPr lang="tr-TR" sz="4000" dirty="0"/>
              <a:t> </a:t>
            </a:r>
            <a:r>
              <a:rPr lang="tr-TR" sz="4000" dirty="0" err="1"/>
              <a:t>Science</a:t>
            </a:r>
            <a:endParaRPr lang="en-US" sz="4000" dirty="0"/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D5586D4D-0B00-3272-90FC-74604F1A2006}"/>
              </a:ext>
            </a:extLst>
          </p:cNvPr>
          <p:cNvSpPr>
            <a:spLocks noGrp="1"/>
          </p:cNvSpPr>
          <p:nvPr/>
        </p:nvSpPr>
        <p:spPr>
          <a:xfrm>
            <a:off x="946150" y="3075341"/>
            <a:ext cx="10414000" cy="15184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4000" dirty="0"/>
              <a:t>Week 3</a:t>
            </a:r>
            <a:br>
              <a:rPr lang="en-US" sz="4000" dirty="0"/>
            </a:br>
            <a:endParaRPr lang="en-US" sz="4000" dirty="0"/>
          </a:p>
          <a:p>
            <a:r>
              <a:rPr sz="3500" b="1" i="1" dirty="0"/>
              <a:t>Describing Distributions: Centre, Shape and Spread</a:t>
            </a:r>
            <a:endParaRPr lang="en-US" sz="4000" dirty="0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5A2D862D-B8C4-2346-A023-C5374A7EDA99}"/>
              </a:ext>
            </a:extLst>
          </p:cNvPr>
          <p:cNvSpPr txBox="1">
            <a:spLocks/>
          </p:cNvSpPr>
          <p:nvPr/>
        </p:nvSpPr>
        <p:spPr>
          <a:xfrm>
            <a:off x="0" y="6190102"/>
            <a:ext cx="12192000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Elif Ceyhan | </a:t>
            </a:r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elif.ceyhan@marmara.edu.tr</a:t>
            </a:r>
            <a:r>
              <a:rPr lang="en-US" dirty="0">
                <a:solidFill>
                  <a:schemeClr val="bg1"/>
                </a:solidFill>
              </a:rPr>
              <a:t> | Office: C733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45D05405-4B68-C3C5-849B-722CAB3833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5423340"/>
            <a:ext cx="110490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75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D6CDC-8F38-5DDD-038B-B42DD34E2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8E409-D6F5-9161-1529-CA181EF0D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0000" cy="4351338"/>
          </a:xfrm>
        </p:spPr>
        <p:txBody>
          <a:bodyPr>
            <a:normAutofit/>
          </a:bodyPr>
          <a:lstStyle/>
          <a:p>
            <a:r>
              <a:rPr sz="2200" b="0"/>
              <a:t>Part 1 – Last week's practice, solved</a:t>
            </a:r>
            <a:endParaRPr lang="tr-TR" dirty="0"/>
          </a:p>
          <a:p>
            <a:pPr lvl="1"/>
            <a:r>
              <a:rPr sz="1800" b="0"/>
              <a:t>Data View and Variable View</a:t>
            </a:r>
            <a:endParaRPr lang="tr-TR" dirty="0"/>
          </a:p>
          <a:p>
            <a:pPr lvl="1"/>
            <a:r>
              <a:rPr sz="1800" b="0"/>
              <a:t>Measure, values, missing</a:t>
            </a:r>
            <a:endParaRPr lang="tr-TR" dirty="0"/>
          </a:p>
          <a:p>
            <a:r>
              <a:rPr sz="2200" b="0"/>
              <a:t>Part 2 – Data management in syntax</a:t>
            </a:r>
            <a:endParaRPr lang="tr-TR" dirty="0"/>
          </a:p>
          <a:p>
            <a:pPr lvl="1"/>
            <a:r>
              <a:rPr sz="1800" b="0"/>
              <a:t>RECODE, labels, measure</a:t>
            </a:r>
            <a:endParaRPr lang="tr-TR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6C526F72-2AC5-1208-E910-A783BD423A1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082B09D4-F2C5-B654-6C73-54A35B8A6414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F8FB0D-559D-AE46-03BA-051F7ACB205D}"/>
              </a:ext>
            </a:extLst>
          </p:cNvPr>
          <p:cNvSpPr txBox="1">
            <a:spLocks/>
          </p:cNvSpPr>
          <p:nvPr/>
        </p:nvSpPr>
        <p:spPr>
          <a:xfrm>
            <a:off x="6037848" y="1843272"/>
            <a:ext cx="59155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200" b="0"/>
              <a:t>One question: 30 or 20 minutes?</a:t>
            </a:r>
          </a:p>
          <a:p>
            <a:pPr lvl="1"/>
            <a:r>
              <a:rPr sz="1800" b="0"/>
              <a:t>Central tendency</a:t>
            </a:r>
          </a:p>
          <a:p>
            <a:pPr lvl="1"/>
            <a:r>
              <a:rPr sz="1800" b="0"/>
              <a:t>Shape</a:t>
            </a:r>
          </a:p>
          <a:p>
            <a:pPr lvl="1"/>
            <a:r>
              <a:rPr sz="1800" b="0"/>
              <a:t>Dispersion</a:t>
            </a:r>
          </a:p>
          <a:p>
            <a:pPr lvl="1"/>
            <a:r>
              <a:rPr sz="1800" b="0"/>
              <a:t>z-scores</a:t>
            </a:r>
          </a:p>
          <a:p>
            <a:r>
              <a:rPr sz="2200" b="0"/>
              <a:t>Part 3 – Practice</a:t>
            </a:r>
          </a:p>
        </p:txBody>
      </p:sp>
    </p:spTree>
    <p:extLst>
      <p:ext uri="{BB962C8B-B14F-4D97-AF65-F5344CB8AC3E}">
        <p14:creationId xmlns:p14="http://schemas.microsoft.com/office/powerpoint/2010/main" val="3480919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D430-FA92-5E06-588D-2EC020D7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One Data Set, Two Views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7D603249-7E97-D2E2-72CA-0F0FF0B6147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61E4C9AA-1102-9768-5E22-3C867B282BBE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1500000"/>
            <a:ext cx="5174393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chemeClr val="accent1"/>
                </a:solidFill>
              </a:rPr>
              <a:t>DATA VIEW</a:t>
            </a:r>
            <a:r>
              <a:rPr sz="1400" b="0" i="0">
                <a:solidFill>
                  <a:srgbClr val="555555"/>
                </a:solidFill>
              </a:rPr>
              <a:t>  rows = people, columns = variables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6607" y="1950000"/>
          <a:ext cx="5174392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9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comminute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600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600"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-90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600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sz="1600" b="1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71000" y="1500000"/>
            <a:ext cx="5174393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chemeClr val="accent1"/>
                </a:solidFill>
              </a:rPr>
              <a:t>VARIABLE VIEW</a:t>
            </a:r>
            <a:r>
              <a:rPr sz="1400" b="0" i="0">
                <a:solidFill>
                  <a:srgbClr val="555555"/>
                </a:solidFill>
              </a:rPr>
              <a:t>  rows = variables, columns = properties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71000" y="1950000"/>
          <a:ext cx="5174393" cy="198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3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5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000">
                <a:tc>
                  <a:txBody>
                    <a:bodyPr/>
                    <a:lstStyle/>
                    <a:p>
                      <a:r>
                        <a:rPr sz="1400" b="1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Measure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r>
                        <a:rPr sz="1400" b="1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 Erkek, 2 Kadın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Nominal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r>
                        <a:rPr sz="1400" b="1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r>
                        <a:rPr sz="1400" b="1"/>
                        <a:t>comminute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-90 Uygun değil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-90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46607" y="4200000"/>
            <a:ext cx="10698786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chemeClr val="accent1"/>
                </a:solidFill>
              </a:rPr>
              <a:t>A value about a person → Data View.   A fact about a variable → Variable View.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</a:rPr>
              <a:t>Example rows only – open TGSS to see the real 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D430-FA92-5E06-588D-2EC020D7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Practice A1: What Kind of Variable?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7D603249-7E97-D2E2-72CA-0F0FF0B6147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61E4C9AA-1102-9768-5E22-3C867B282BBE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6607" y="1550000"/>
          <a:ext cx="7061198" cy="3623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3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1428">
                <a:tc>
                  <a:txBody>
                    <a:bodyPr/>
                    <a:lstStyle/>
                    <a:p>
                      <a:r>
                        <a:rPr sz="1600" b="1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TGSS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Codebook says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Correct measure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sz="1600" b="1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Nominal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sz="1600" b="1"/>
                        <a:t>Region of residence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nuts1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Nominal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sz="1600" b="1"/>
                        <a:t>Highest degree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 dirty="0"/>
                        <a:t>degree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Ordinal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sz="1600" b="1"/>
                        <a:t>Life satisfaction (1 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lifesat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Ordinal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428">
                <a:tc>
                  <a:txBody>
                    <a:bodyPr/>
                    <a:lstStyle/>
                    <a:p>
                      <a:r>
                        <a:rPr sz="1600" b="1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432">
                <a:tc>
                  <a:txBody>
                    <a:bodyPr/>
                    <a:lstStyle/>
                    <a:p>
                      <a:r>
                        <a:rPr sz="1600" b="1"/>
                        <a:t>Commuting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 dirty="0"/>
                        <a:t>comminute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 dirty="0"/>
                        <a:t>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128769" y="1550000"/>
            <a:ext cx="3316623" cy="3300000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58769" y="1710000"/>
            <a:ext cx="2856623" cy="2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chemeClr val="accent1"/>
                </a:solidFill>
              </a:rPr>
              <a:t>DO YOU AGREE?</a:t>
            </a:r>
          </a:p>
          <a:p>
            <a:pPr algn="l">
              <a:spcAft>
                <a:spcPts val="600"/>
              </a:spcAft>
            </a:pPr>
            <a:r>
              <a:rPr sz="2000" b="1" i="0"/>
              <a:t>Labels can be wrong</a:t>
            </a:r>
          </a:p>
          <a:p>
            <a:pPr algn="l">
              <a:spcAft>
                <a:spcPts val="600"/>
              </a:spcAft>
            </a:pPr>
            <a:r>
              <a:rPr sz="1600" b="0" i="0"/>
              <a:t>Even the codebook.</a:t>
            </a:r>
          </a:p>
          <a:p>
            <a:pPr algn="l">
              <a:spcAft>
                <a:spcPts val="600"/>
              </a:spcAft>
            </a:pPr>
            <a:r>
              <a:rPr sz="1600" b="0" i="0"/>
              <a:t>Ask: what do the numbers mean?</a:t>
            </a:r>
          </a:p>
          <a:p>
            <a:pPr algn="l">
              <a:spcAft>
                <a:spcPts val="600"/>
              </a:spcAft>
            </a:pPr>
            <a:r>
              <a:rPr sz="1600" b="0" i="0"/>
              <a:t>Categories only → nominal</a:t>
            </a:r>
          </a:p>
          <a:p>
            <a:pPr algn="l">
              <a:spcAft>
                <a:spcPts val="600"/>
              </a:spcAft>
            </a:pPr>
            <a:r>
              <a:rPr sz="1600" b="0" i="0"/>
              <a:t>Ordered → ordinal</a:t>
            </a:r>
          </a:p>
          <a:p>
            <a:pPr algn="l">
              <a:spcAft>
                <a:spcPts val="600"/>
              </a:spcAft>
            </a:pPr>
            <a:r>
              <a:rPr sz="1600" b="0" i="0"/>
              <a:t>True zero, 'twice as much' →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D430-FA92-5E06-588D-2EC020D7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Practice A2 and B1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7D603249-7E97-D2E2-72CA-0F0FF0B6147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61E4C9AA-1102-9768-5E22-3C867B282BBE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6607" y="1650000"/>
            <a:ext cx="5174393" cy="3200000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6607" y="1810000"/>
            <a:ext cx="4714393" cy="28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chemeClr val="accent1"/>
                </a:solidFill>
              </a:rPr>
              <a:t>A2 · VALUES AND MISSING</a:t>
            </a:r>
          </a:p>
          <a:p>
            <a:pPr algn="l">
              <a:spcAft>
                <a:spcPts val="600"/>
              </a:spcAft>
            </a:pPr>
            <a:r>
              <a:rPr sz="2000" b="1" i="0"/>
              <a:t>Two different columns</a:t>
            </a:r>
          </a:p>
          <a:p>
            <a:pPr algn="l">
              <a:spcAft>
                <a:spcPts val="600"/>
              </a:spcAft>
            </a:pPr>
            <a:r>
              <a:rPr sz="1600" b="0" i="0"/>
              <a:t>Values: what each code means (labels).</a:t>
            </a:r>
          </a:p>
          <a:p>
            <a:pPr algn="l">
              <a:spcAft>
                <a:spcPts val="600"/>
              </a:spcAft>
            </a:pPr>
            <a:r>
              <a:rPr sz="1600" b="0" i="0"/>
              <a:t>TGSS: -88 don't know, -99 refused, -90 not applicable.</a:t>
            </a:r>
          </a:p>
          <a:p>
            <a:pPr algn="l">
              <a:spcAft>
                <a:spcPts val="600"/>
              </a:spcAft>
            </a:pPr>
            <a:r>
              <a:rPr sz="1600" b="0" i="0"/>
              <a:t>Missing: which codes SPSS ignores in calculations.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chemeClr val="accent2"/>
                </a:solidFill>
              </a:rPr>
              <a:t>Not defined? Average commute = −56 minutes!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1000" y="1650000"/>
            <a:ext cx="5174393" cy="3200000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000" y="1810000"/>
            <a:ext cx="4714393" cy="28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chemeClr val="accent1"/>
                </a:solidFill>
              </a:rPr>
              <a:t>B1 · REGION (NUTS1)</a:t>
            </a:r>
          </a:p>
          <a:p>
            <a:pPr algn="l">
              <a:spcAft>
                <a:spcPts val="600"/>
              </a:spcAft>
            </a:pPr>
            <a:r>
              <a:rPr sz="2000" b="1" i="0"/>
              <a:t>A nominal variable</a:t>
            </a:r>
          </a:p>
          <a:p>
            <a:pPr algn="l">
              <a:spcAft>
                <a:spcPts val="600"/>
              </a:spcAft>
            </a:pPr>
            <a:r>
              <a:rPr sz="1600" b="0" i="0"/>
              <a:t>Frequencies → the largest region is the mode.</a:t>
            </a:r>
          </a:p>
          <a:p>
            <a:pPr algn="l">
              <a:spcAft>
                <a:spcPts val="600"/>
              </a:spcAft>
            </a:pPr>
            <a:r>
              <a:rPr sz="1600" b="0" i="0"/>
              <a:t>A mean of region codes would be meaningless.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chemeClr val="accent1"/>
                </a:solidFill>
              </a:rPr>
              <a:t>Nominal: counts, %, mode.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D430-FA92-5E06-588D-2EC020D7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Syntax: Practice C1 in Code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7D603249-7E97-D2E2-72CA-0F0FF0B6147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61E4C9AA-1102-9768-5E22-3C867B282BBE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1350000"/>
            <a:ext cx="10698786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55555"/>
                </a:solidFill>
              </a:rPr>
              <a:t>File → New → Syntax  ·  * = comment  ·  every command ends with a full stop  ·  select + Ctrl+R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7571" y="1800000"/>
            <a:ext cx="6419271" cy="3650000"/>
          </a:xfrm>
          <a:prstGeom prst="roundRect">
            <a:avLst>
              <a:gd name="adj" fmla="val 3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00000" rIns="250000" rtlCol="0" anchor="t"/>
          <a:lstStyle/>
          <a:p>
            <a:pPr algn="l"/>
            <a:r>
              <a:rPr sz="1500" dirty="0">
                <a:solidFill>
                  <a:srgbClr val="1A1A1A"/>
                </a:solidFill>
                <a:latin typeface="Courier New"/>
              </a:rPr>
              <a:t>RECODE age (18 THRU 29=1) (30 THRU 44=2)</a:t>
            </a:r>
          </a:p>
          <a:p>
            <a:pPr algn="l"/>
            <a:r>
              <a:rPr sz="1500" dirty="0">
                <a:solidFill>
                  <a:srgbClr val="1A1A1A"/>
                </a:solidFill>
                <a:latin typeface="Courier New"/>
              </a:rPr>
              <a:t>  (45 THRU 64=3) (65 THRU HIGHEST=4)</a:t>
            </a:r>
          </a:p>
          <a:p>
            <a:pPr algn="l"/>
            <a:r>
              <a:rPr sz="1500" dirty="0">
                <a:solidFill>
                  <a:srgbClr val="1A1A1A"/>
                </a:solidFill>
                <a:latin typeface="Courier New"/>
              </a:rPr>
              <a:t>  INTO age4.</a:t>
            </a:r>
          </a:p>
          <a:p>
            <a:pPr algn="l"/>
            <a:r>
              <a:rPr sz="1500" dirty="0">
                <a:solidFill>
                  <a:srgbClr val="1A1A1A"/>
                </a:solidFill>
                <a:latin typeface="Courier New"/>
              </a:rPr>
              <a:t>VARIABLE LABELS age4 'Age, 4 groups'.</a:t>
            </a:r>
          </a:p>
          <a:p>
            <a:pPr algn="l"/>
            <a:r>
              <a:rPr sz="1500" dirty="0">
                <a:solidFill>
                  <a:srgbClr val="1A1A1A"/>
                </a:solidFill>
                <a:latin typeface="Courier New"/>
              </a:rPr>
              <a:t>VALUE LABELS age4</a:t>
            </a:r>
          </a:p>
          <a:p>
            <a:pPr algn="l"/>
            <a:r>
              <a:rPr sz="1500" dirty="0">
                <a:solidFill>
                  <a:srgbClr val="1A1A1A"/>
                </a:solidFill>
                <a:latin typeface="Courier New"/>
              </a:rPr>
              <a:t>  1 '18-29' 2 '30-44'</a:t>
            </a:r>
          </a:p>
          <a:p>
            <a:pPr algn="l"/>
            <a:r>
              <a:rPr sz="1500" dirty="0">
                <a:solidFill>
                  <a:srgbClr val="1A1A1A"/>
                </a:solidFill>
                <a:latin typeface="Courier New"/>
              </a:rPr>
              <a:t>  3 '45-64' 4 '65+'.</a:t>
            </a:r>
          </a:p>
          <a:p>
            <a:pPr algn="l"/>
            <a:r>
              <a:rPr sz="1500" dirty="0">
                <a:solidFill>
                  <a:srgbClr val="1A1A1A"/>
                </a:solidFill>
                <a:latin typeface="Courier New"/>
              </a:rPr>
              <a:t>VARIABLE LEVEL age4 (ORDINAL).</a:t>
            </a:r>
          </a:p>
          <a:p>
            <a:pPr algn="l"/>
            <a:r>
              <a:rPr sz="1500" dirty="0">
                <a:solidFill>
                  <a:srgbClr val="1A1A1A"/>
                </a:solidFill>
                <a:latin typeface="Courier New"/>
              </a:rPr>
              <a:t>EXECUTE.</a:t>
            </a:r>
          </a:p>
          <a:p>
            <a:pPr algn="l"/>
            <a:r>
              <a:rPr sz="1500" dirty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/>
            <a:r>
              <a:rPr sz="1500" dirty="0">
                <a:solidFill>
                  <a:srgbClr val="1A1A1A"/>
                </a:solidFill>
                <a:latin typeface="Courier New"/>
              </a:rPr>
              <a:t>FREQUENCIES VARIABLES=age4.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86842" y="1800000"/>
            <a:ext cx="3958550" cy="3650000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16842" y="1960000"/>
            <a:ext cx="3498550" cy="22775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dirty="0">
                <a:solidFill>
                  <a:schemeClr val="accent1"/>
                </a:solidFill>
              </a:rPr>
              <a:t>WHAT EACH LINE DOES</a:t>
            </a:r>
          </a:p>
          <a:p>
            <a:pPr algn="l">
              <a:spcAft>
                <a:spcPts val="600"/>
              </a:spcAft>
            </a:pPr>
            <a:r>
              <a:rPr sz="2000" b="1" i="0" dirty="0"/>
              <a:t>Four jobs</a:t>
            </a:r>
          </a:p>
          <a:p>
            <a:pPr algn="l">
              <a:spcAft>
                <a:spcPts val="600"/>
              </a:spcAft>
            </a:pPr>
            <a:r>
              <a:rPr sz="1600" b="0" i="0" dirty="0"/>
              <a:t>RECODE … INTO: a new variable</a:t>
            </a:r>
          </a:p>
          <a:p>
            <a:pPr algn="l">
              <a:spcAft>
                <a:spcPts val="600"/>
              </a:spcAft>
            </a:pPr>
            <a:r>
              <a:rPr sz="1600" b="0" i="0" dirty="0"/>
              <a:t>VARIABLE LABELS: </a:t>
            </a:r>
            <a:r>
              <a:rPr lang="tr-TR" sz="1600" dirty="0" err="1"/>
              <a:t>labels</a:t>
            </a:r>
            <a:r>
              <a:rPr lang="tr-TR" sz="1600" dirty="0"/>
              <a:t> </a:t>
            </a:r>
            <a:r>
              <a:rPr lang="tr-TR" sz="1600" dirty="0" err="1"/>
              <a:t>the</a:t>
            </a:r>
            <a:r>
              <a:rPr lang="tr-TR" sz="1600" dirty="0"/>
              <a:t> </a:t>
            </a:r>
            <a:r>
              <a:rPr lang="tr-TR" sz="1600" dirty="0" err="1"/>
              <a:t>variable</a:t>
            </a:r>
            <a:endParaRPr sz="1600" b="0" i="0" dirty="0"/>
          </a:p>
          <a:p>
            <a:pPr algn="l">
              <a:spcAft>
                <a:spcPts val="600"/>
              </a:spcAft>
            </a:pPr>
            <a:r>
              <a:rPr sz="1600" b="0" i="0" dirty="0"/>
              <a:t>VALUE LABELS: what 1–4 mean</a:t>
            </a:r>
          </a:p>
          <a:p>
            <a:pPr algn="l">
              <a:spcAft>
                <a:spcPts val="600"/>
              </a:spcAft>
            </a:pPr>
            <a:r>
              <a:rPr sz="1600" b="0" i="0" dirty="0"/>
              <a:t>VARIABLE LEVEL: its measure</a:t>
            </a:r>
          </a:p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chemeClr val="accent1"/>
                </a:solidFill>
              </a:rPr>
              <a:t>age is scale – age4 is …?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D430-FA92-5E06-588D-2EC020D7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Getting to Work: 30 or 20 Minutes?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7D603249-7E97-D2E2-72CA-0F0FF0B6147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61E4C9AA-1102-9768-5E22-3C867B282BBE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1750000"/>
            <a:ext cx="5349393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 i="0">
                <a:solidFill>
                  <a:schemeClr val="accent1"/>
                </a:solidFill>
              </a:rPr>
              <a:t>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2900000"/>
            <a:ext cx="5349393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555555"/>
                </a:solidFill>
              </a:rPr>
              <a:t>the 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1750000"/>
            <a:ext cx="5349393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 i="0">
                <a:solidFill>
                  <a:schemeClr val="accent2"/>
                </a:solidFill>
              </a:rPr>
              <a:t>20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2900000"/>
            <a:ext cx="5349393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555555"/>
                </a:solidFill>
              </a:rPr>
              <a:t>the median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3750000"/>
            <a:ext cx="10698786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/>
              <a:t>Same data: TGSS 2024, 735 people who commute to work.</a:t>
            </a:r>
          </a:p>
          <a:p>
            <a:pPr algn="ctr">
              <a:spcAft>
                <a:spcPts val="600"/>
              </a:spcAft>
            </a:pPr>
            <a:r>
              <a:rPr sz="2200" b="1" i="0">
                <a:solidFill>
                  <a:schemeClr val="accent1"/>
                </a:solidFill>
              </a:rPr>
              <a:t>Both are correct. Which one would you put in a headline? Which one in your paper?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D430-FA92-5E06-588D-2EC020D7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Centre, Shape, Spread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7D603249-7E97-D2E2-72CA-0F0FF0B6147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61E4C9AA-1102-9768-5E22-3C867B282BBE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6607" y="1650000"/>
            <a:ext cx="3399595" cy="2600000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6607" y="1810000"/>
            <a:ext cx="2939595" cy="2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chemeClr val="accent1"/>
                </a:solidFill>
              </a:rPr>
              <a:t>CENTRE · CENTRAL TENDENCY</a:t>
            </a:r>
          </a:p>
          <a:p>
            <a:pPr algn="l">
              <a:spcAft>
                <a:spcPts val="600"/>
              </a:spcAft>
            </a:pPr>
            <a:r>
              <a:rPr sz="2000" b="1" i="0"/>
              <a:t>Where is the typical person?</a:t>
            </a:r>
          </a:p>
          <a:p>
            <a:pPr algn="l">
              <a:spcAft>
                <a:spcPts val="600"/>
              </a:spcAft>
            </a:pPr>
            <a:r>
              <a:rPr sz="1500" b="0" i="0"/>
              <a:t>One value that sums up the group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chemeClr val="accent1"/>
                </a:solidFill>
              </a:rPr>
              <a:t>mode · median · mean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6202" y="1650000"/>
            <a:ext cx="3399595" cy="2600000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26202" y="1810000"/>
            <a:ext cx="2939595" cy="2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chemeClr val="accent1"/>
                </a:solidFill>
              </a:rPr>
              <a:t>SHAPE</a:t>
            </a:r>
          </a:p>
          <a:p>
            <a:pPr algn="l">
              <a:spcAft>
                <a:spcPts val="600"/>
              </a:spcAft>
            </a:pPr>
            <a:r>
              <a:rPr sz="2000" b="1" i="0"/>
              <a:t>Is it lopsided? Extreme values?</a:t>
            </a:r>
          </a:p>
          <a:p>
            <a:pPr algn="l">
              <a:spcAft>
                <a:spcPts val="600"/>
              </a:spcAft>
            </a:pPr>
            <a:r>
              <a:rPr sz="1500" b="0" i="0"/>
              <a:t>Can we trust centre and spread?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chemeClr val="accent1"/>
                </a:solidFill>
              </a:rPr>
              <a:t>skewness · kurtosis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5797" y="1650000"/>
            <a:ext cx="3399595" cy="2600000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797" y="1810000"/>
            <a:ext cx="2939595" cy="2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chemeClr val="accent1"/>
                </a:solidFill>
              </a:rPr>
              <a:t>SPREAD · DISPERSION</a:t>
            </a:r>
          </a:p>
          <a:p>
            <a:pPr algn="l">
              <a:spcAft>
                <a:spcPts val="600"/>
              </a:spcAft>
            </a:pPr>
            <a:r>
              <a:rPr sz="2000" b="1" i="0"/>
              <a:t>How far are the others from the typical person?</a:t>
            </a:r>
          </a:p>
          <a:p>
            <a:pPr algn="l">
              <a:spcAft>
                <a:spcPts val="600"/>
              </a:spcAft>
            </a:pPr>
            <a:r>
              <a:rPr sz="1500" b="0" i="0"/>
              <a:t>The same centre can hide very different groups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chemeClr val="accent1"/>
                </a:solidFill>
              </a:rPr>
              <a:t>range · IQR · 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4600000"/>
            <a:ext cx="10698786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chemeClr val="accent1"/>
                </a:solidFill>
              </a:rPr>
              <a:t>We answer all three today – with commuting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D430-FA92-5E06-588D-2EC020D7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Central Tendency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7D603249-7E97-D2E2-72CA-0F0FF0B6147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61E4C9AA-1102-9768-5E22-3C867B282BBE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6607" y="1650000"/>
            <a:ext cx="3399595" cy="2500000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6607" y="1810000"/>
            <a:ext cx="2939595" cy="2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dirty="0">
                <a:solidFill>
                  <a:schemeClr val="accent1"/>
                </a:solidFill>
              </a:rPr>
              <a:t>MODE</a:t>
            </a:r>
          </a:p>
          <a:p>
            <a:pPr algn="l">
              <a:spcAft>
                <a:spcPts val="600"/>
              </a:spcAft>
            </a:pPr>
            <a:r>
              <a:rPr sz="2200" b="1" i="0" dirty="0"/>
              <a:t>Most frequent value</a:t>
            </a:r>
          </a:p>
          <a:p>
            <a:pPr algn="l">
              <a:spcAft>
                <a:spcPts val="600"/>
              </a:spcAft>
            </a:pPr>
            <a:r>
              <a:rPr sz="1600" b="1" i="0" dirty="0"/>
              <a:t>age: 19 · comminute: 15</a:t>
            </a:r>
          </a:p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chemeClr val="accent1"/>
                </a:solidFill>
              </a:rPr>
              <a:t>→ All levels, incl. nominal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6202" y="1650000"/>
            <a:ext cx="3399595" cy="2500000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26202" y="1810000"/>
            <a:ext cx="2939595" cy="13388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dirty="0">
                <a:solidFill>
                  <a:schemeClr val="accent1"/>
                </a:solidFill>
              </a:rPr>
              <a:t>MEDIAN</a:t>
            </a:r>
          </a:p>
          <a:p>
            <a:pPr algn="l">
              <a:spcAft>
                <a:spcPts val="600"/>
              </a:spcAft>
            </a:pPr>
            <a:r>
              <a:rPr sz="2200" b="1" i="0" dirty="0"/>
              <a:t>The middle person</a:t>
            </a:r>
          </a:p>
          <a:p>
            <a:pPr algn="l">
              <a:spcAft>
                <a:spcPts val="600"/>
              </a:spcAft>
            </a:pPr>
            <a:r>
              <a:rPr sz="1600" b="1" i="0" dirty="0"/>
              <a:t>age: 39 · comminute: 20</a:t>
            </a:r>
            <a:endParaRPr lang="en-US" sz="1600" b="1" i="0" dirty="0"/>
          </a:p>
          <a:p>
            <a:pPr algn="l">
              <a:spcAft>
                <a:spcPts val="600"/>
              </a:spcAft>
            </a:pPr>
            <a:r>
              <a:rPr lang="en-US" sz="1600" b="0" i="0" dirty="0">
                <a:solidFill>
                  <a:schemeClr val="accent1"/>
                </a:solidFill>
              </a:rPr>
              <a:t>→ Ordinal</a:t>
            </a:r>
            <a:r>
              <a:rPr lang="tr-TR" sz="1600" b="0" i="0" dirty="0">
                <a:solidFill>
                  <a:schemeClr val="accent1"/>
                </a:solidFill>
              </a:rPr>
              <a:t>/</a:t>
            </a:r>
            <a:r>
              <a:rPr lang="tr-TR" sz="1600" b="0" i="0" dirty="0" err="1">
                <a:solidFill>
                  <a:schemeClr val="accent1"/>
                </a:solidFill>
              </a:rPr>
              <a:t>Interval</a:t>
            </a:r>
            <a:r>
              <a:rPr lang="tr-TR" sz="1600" b="0" i="0" dirty="0">
                <a:solidFill>
                  <a:schemeClr val="accent1"/>
                </a:solidFill>
              </a:rPr>
              <a:t>/</a:t>
            </a:r>
            <a:r>
              <a:rPr lang="tr-TR" sz="1600" b="0" i="0" dirty="0" err="1">
                <a:solidFill>
                  <a:schemeClr val="accent1"/>
                </a:solidFill>
              </a:rPr>
              <a:t>Ratio</a:t>
            </a:r>
            <a:endParaRPr lang="en-US" sz="1600" b="0" i="0" dirty="0">
              <a:solidFill>
                <a:schemeClr val="accent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45797" y="1650000"/>
            <a:ext cx="3399595" cy="2500000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797" y="1810000"/>
            <a:ext cx="2939595" cy="2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dirty="0">
                <a:solidFill>
                  <a:schemeClr val="accent1"/>
                </a:solidFill>
              </a:rPr>
              <a:t>MEAN</a:t>
            </a:r>
          </a:p>
          <a:p>
            <a:pPr algn="l">
              <a:spcAft>
                <a:spcPts val="600"/>
              </a:spcAft>
            </a:pPr>
            <a:r>
              <a:rPr sz="2200" b="1" i="0" dirty="0"/>
              <a:t>Sum ÷ n</a:t>
            </a:r>
          </a:p>
          <a:p>
            <a:pPr algn="l">
              <a:spcAft>
                <a:spcPts val="600"/>
              </a:spcAft>
            </a:pPr>
            <a:r>
              <a:rPr sz="1600" b="1" i="0" dirty="0"/>
              <a:t>age: 40.3 · comminute: 30.1</a:t>
            </a:r>
          </a:p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chemeClr val="accent1"/>
                </a:solidFill>
              </a:rPr>
              <a:t>→ Interval / ratio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4450000"/>
            <a:ext cx="10698786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solidFill>
                  <a:schemeClr val="accent1"/>
                </a:solidFill>
              </a:rPr>
              <a:t>age: mean ≈ median.   comminute: mean ≫ median.   Why?</a:t>
            </a:r>
            <a:endParaRPr lang="tr-TR" sz="2000" b="1" i="0" dirty="0">
              <a:solidFill>
                <a:schemeClr val="accent1"/>
              </a:solidFill>
            </a:endParaRPr>
          </a:p>
          <a:p>
            <a:pPr algn="l">
              <a:spcAft>
                <a:spcPts val="600"/>
              </a:spcAft>
            </a:pPr>
            <a:endParaRPr lang="tr-TR" sz="2000" b="1" dirty="0">
              <a:solidFill>
                <a:schemeClr val="accent1"/>
              </a:solidFill>
            </a:endParaRPr>
          </a:p>
          <a:p>
            <a:pPr algn="l">
              <a:spcAft>
                <a:spcPts val="600"/>
              </a:spcAft>
            </a:pPr>
            <a:r>
              <a:rPr lang="tr-TR" sz="2000" b="1" i="0" dirty="0">
                <a:solidFill>
                  <a:schemeClr val="accent1"/>
                </a:solidFill>
              </a:rPr>
              <a:t>	</a:t>
            </a:r>
            <a:r>
              <a:rPr lang="en-US" sz="2000" b="1" i="0" dirty="0">
                <a:solidFill>
                  <a:schemeClr val="accent1"/>
                </a:solidFill>
              </a:rPr>
              <a:t>→ a few very long commutes pull the mean up. </a:t>
            </a:r>
            <a:endParaRPr sz="2000" b="1" i="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D430-FA92-5E06-588D-2EC020D7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Why Do They Differ? The Shape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7D603249-7E97-D2E2-72CA-0F0FF0B6147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61E4C9AA-1102-9768-5E22-3C867B282BBE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8" name="Picture 7" descr="sh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" y="1450000"/>
            <a:ext cx="6847223" cy="194004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14793" y="1450000"/>
            <a:ext cx="3530599" cy="3900000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44793" y="1610000"/>
            <a:ext cx="3070599" cy="3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chemeClr val="accent1"/>
                </a:solidFill>
              </a:rPr>
              <a:t>SPSS: 0 = NORMAL</a:t>
            </a:r>
          </a:p>
          <a:p>
            <a:pPr algn="l">
              <a:spcAft>
                <a:spcPts val="600"/>
              </a:spcAft>
            </a:pPr>
            <a:r>
              <a:rPr sz="2000" b="1" i="0"/>
              <a:t>Rules of thumb</a:t>
            </a:r>
          </a:p>
          <a:p>
            <a:pPr algn="l">
              <a:spcAft>
                <a:spcPts val="600"/>
              </a:spcAft>
            </a:pPr>
            <a:r>
              <a:rPr sz="1600" b="1" i="0"/>
              <a:t>|skew|, |kurtosis| &lt; 1.5</a:t>
            </a:r>
            <a:r>
              <a:rPr sz="1600" b="0" i="0"/>
              <a:t> – stricter</a:t>
            </a:r>
          </a:p>
          <a:p>
            <a:pPr algn="l">
              <a:spcAft>
                <a:spcPts val="600"/>
              </a:spcAft>
            </a:pPr>
            <a:r>
              <a:rPr sz="1600" b="1" i="0"/>
              <a:t>&lt; 2</a:t>
            </a:r>
            <a:r>
              <a:rPr sz="1600" b="0" i="0"/>
              <a:t> – more lenient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chemeClr val="accent2"/>
                </a:solidFill>
              </a:rPr>
              <a:t>comminute: skew 2.82, kurtosis 12.56</a:t>
            </a:r>
          </a:p>
          <a:p>
            <a:pPr algn="l">
              <a:spcAft>
                <a:spcPts val="600"/>
              </a:spcAft>
            </a:pPr>
            <a:r>
              <a:rPr sz="1600" b="0" i="0"/>
              <a:t>age: close to 0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</a:rPr>
              <a:t>Why are large samples more forgiving? Next week.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6" y="3545952"/>
            <a:ext cx="6847223" cy="1862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555555"/>
                </a:solidFill>
              </a:rPr>
              <a:t>Tail to the right = positive skew. Kurtosis = how heavy the tails are.  (Illustration)</a:t>
            </a:r>
            <a:endParaRPr lang="tr-TR" sz="1400" b="0" i="0" dirty="0">
              <a:solidFill>
                <a:srgbClr val="555555"/>
              </a:solidFill>
            </a:endParaRPr>
          </a:p>
          <a:p>
            <a:pPr algn="l">
              <a:spcAft>
                <a:spcPts val="600"/>
              </a:spcAft>
            </a:pPr>
            <a:endParaRPr lang="tr-TR" sz="1400" dirty="0">
              <a:solidFill>
                <a:srgbClr val="555555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/>
              <a:t>A long tail to the right is positive skew – </a:t>
            </a:r>
            <a:r>
              <a:rPr lang="en-US" b="1" dirty="0"/>
              <a:t>and that tail is what pulls the mean up.</a:t>
            </a:r>
            <a:r>
              <a:rPr lang="en-US" dirty="0"/>
              <a:t> </a:t>
            </a:r>
            <a:endParaRPr lang="tr-TR" dirty="0"/>
          </a:p>
          <a:p>
            <a:pPr>
              <a:spcAft>
                <a:spcPts val="600"/>
              </a:spcAft>
            </a:pPr>
            <a:r>
              <a:rPr lang="en-US" dirty="0"/>
              <a:t>Kurtosis is about the tails: how many people sit far from the </a:t>
            </a:r>
            <a:r>
              <a:rPr lang="en-US" dirty="0" err="1"/>
              <a:t>centre</a:t>
            </a:r>
            <a:r>
              <a:rPr lang="en-US" dirty="0"/>
              <a:t>. In SPSS both are zero for a perfect normal.</a:t>
            </a:r>
            <a:endParaRPr sz="1400" b="0" i="0" dirty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D430-FA92-5E06-588D-2EC020D7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Dispersion</a:t>
            </a:r>
            <a:r>
              <a:rPr lang="tr-TR" dirty="0"/>
              <a:t>: </a:t>
            </a:r>
            <a:r>
              <a:rPr lang="tr-TR" dirty="0" err="1"/>
              <a:t>Range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Inter </a:t>
            </a:r>
            <a:r>
              <a:rPr lang="tr-TR" dirty="0" err="1"/>
              <a:t>Quartile</a:t>
            </a:r>
            <a:r>
              <a:rPr lang="tr-TR" dirty="0"/>
              <a:t> </a:t>
            </a:r>
            <a:r>
              <a:rPr lang="tr-TR" dirty="0" err="1"/>
              <a:t>Range</a:t>
            </a:r>
            <a:r>
              <a:rPr lang="tr-TR" dirty="0"/>
              <a:t> (IQR)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7D603249-7E97-D2E2-72CA-0F0FF0B6147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61E4C9AA-1102-9768-5E22-3C867B282BBE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6607" y="1650000"/>
          <a:ext cx="10698784" cy="1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08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0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3333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IQR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33">
                <a:tc>
                  <a:txBody>
                    <a:bodyPr/>
                    <a:lstStyle/>
                    <a:p>
                      <a:pPr algn="l"/>
                      <a:r>
                        <a:rPr sz="2200" b="1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334">
                <a:tc>
                  <a:txBody>
                    <a:bodyPr/>
                    <a:lstStyle/>
                    <a:p>
                      <a:pPr algn="l"/>
                      <a:r>
                        <a:rPr sz="2200" b="1"/>
                        <a:t>comminute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607" y="3400000"/>
            <a:ext cx="5174393" cy="1700000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6607" y="3560000"/>
            <a:ext cx="4714393" cy="1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chemeClr val="accent1"/>
                </a:solidFill>
              </a:rPr>
              <a:t>RANGE = MAX − MIN</a:t>
            </a:r>
          </a:p>
          <a:p>
            <a:pPr algn="l">
              <a:spcAft>
                <a:spcPts val="600"/>
              </a:spcAft>
            </a:pPr>
            <a:r>
              <a:rPr sz="2000" b="1" i="0"/>
              <a:t>Two people decide it</a:t>
            </a:r>
          </a:p>
          <a:p>
            <a:pPr algn="l">
              <a:spcAft>
                <a:spcPts val="600"/>
              </a:spcAft>
            </a:pPr>
            <a:r>
              <a:rPr sz="1600" b="0" i="0"/>
              <a:t>One 240-minute commuter sets the range.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1000" y="3400000"/>
            <a:ext cx="5174393" cy="1700000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1000" y="3560000"/>
            <a:ext cx="4714393" cy="1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chemeClr val="accent1"/>
                </a:solidFill>
              </a:rPr>
              <a:t>IQR = Q3 − Q1</a:t>
            </a:r>
          </a:p>
          <a:p>
            <a:pPr algn="l">
              <a:spcAft>
                <a:spcPts val="600"/>
              </a:spcAft>
            </a:pPr>
            <a:r>
              <a:rPr sz="2000" b="1" i="0"/>
              <a:t>The middle 50%</a:t>
            </a:r>
          </a:p>
          <a:p>
            <a:pPr algn="l">
              <a:spcAft>
                <a:spcPts val="600"/>
              </a:spcAft>
            </a:pPr>
            <a:r>
              <a:rPr sz="1600" b="0" i="0"/>
              <a:t>Half of commuters need 10–40 minutes.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5EC0A8-5640-219F-D5EC-F76C3AC0393E}"/>
              </a:ext>
            </a:extLst>
          </p:cNvPr>
          <p:cNvSpPr txBox="1"/>
          <p:nvPr/>
        </p:nvSpPr>
        <p:spPr>
          <a:xfrm>
            <a:off x="746607" y="5232146"/>
            <a:ext cx="10001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Quartiles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cut the sorted data into four equal parts – NTILES equals 4 gives them</a:t>
            </a:r>
            <a:r>
              <a:rPr lang="tr-TR" sz="1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tr-TR" dirty="0">
                <a:cs typeface="Times New Roman" panose="02020603050405020304" pitchFamily="18" charset="0"/>
              </a:rPr>
              <a:t>Q2 = MEDIAN.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oxplot_commin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33" y="978000"/>
            <a:ext cx="10698786" cy="37857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8FD430-FA92-5E06-588D-2EC020D7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The Boxplot: a Picture of the IQR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7D603249-7E97-D2E2-72CA-0F0FF0B6147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61E4C9AA-1102-9768-5E22-3C867B282BBE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4593269"/>
            <a:ext cx="10698786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 dirty="0">
                <a:solidFill>
                  <a:schemeClr val="accent1"/>
                </a:solidFill>
              </a:rPr>
              <a:t>Circle = far (above 85 min).  Star = very far (above 130 min).  In TGSS: 40 circles, 9 stars.</a:t>
            </a:r>
          </a:p>
        </p:txBody>
      </p:sp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633AB757-B14B-4650-394C-D113081206B5}"/>
              </a:ext>
            </a:extLst>
          </p:cNvPr>
          <p:cNvSpPr/>
          <p:nvPr/>
        </p:nvSpPr>
        <p:spPr>
          <a:xfrm>
            <a:off x="2089730" y="5402363"/>
            <a:ext cx="7687629" cy="1395995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CAFA6-969C-FFC5-005D-64E76BF945A9}"/>
              </a:ext>
            </a:extLst>
          </p:cNvPr>
          <p:cNvSpPr txBox="1"/>
          <p:nvPr/>
        </p:nvSpPr>
        <p:spPr>
          <a:xfrm>
            <a:off x="2285958" y="5416086"/>
            <a:ext cx="7295174" cy="12772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dirty="0">
                <a:solidFill>
                  <a:schemeClr val="accent1"/>
                </a:solidFill>
              </a:rPr>
              <a:t>TGSS: COMMINUTE</a:t>
            </a:r>
          </a:p>
          <a:p>
            <a:pPr algn="l">
              <a:spcAft>
                <a:spcPts val="600"/>
              </a:spcAft>
            </a:pPr>
            <a:r>
              <a:rPr sz="1800" b="1" i="0" dirty="0"/>
              <a:t>Q1 = 10, Q3 = 40, IQR = 30</a:t>
            </a:r>
          </a:p>
          <a:p>
            <a:pPr algn="l">
              <a:spcAft>
                <a:spcPts val="600"/>
              </a:spcAft>
            </a:pPr>
            <a:r>
              <a:rPr sz="1600" b="1" i="0" dirty="0"/>
              <a:t>Outlier above: </a:t>
            </a:r>
            <a:r>
              <a:rPr sz="1600" b="0" i="0" dirty="0"/>
              <a:t>40 + 1.5 × 30 = 85 min</a:t>
            </a:r>
            <a:r>
              <a:rPr lang="tr-TR" sz="1600" b="0" i="0" dirty="0"/>
              <a:t>      </a:t>
            </a:r>
            <a:r>
              <a:rPr sz="1600" b="1" i="0" dirty="0"/>
              <a:t>Extreme above: </a:t>
            </a:r>
            <a:r>
              <a:rPr sz="1600" b="0" i="0" dirty="0"/>
              <a:t>40 + 3 × 30 = 130 min</a:t>
            </a:r>
          </a:p>
          <a:p>
            <a:pPr algn="l">
              <a:spcAft>
                <a:spcPts val="600"/>
              </a:spcAft>
            </a:pPr>
            <a:r>
              <a:rPr sz="1600" b="1" i="0" dirty="0"/>
              <a:t>Below: </a:t>
            </a:r>
            <a:r>
              <a:rPr sz="1600" b="0" i="0" dirty="0"/>
              <a:t>10 − 45 &lt; 0 → none possible</a:t>
            </a:r>
            <a:r>
              <a:rPr lang="tr-TR" sz="1600" b="0" i="0" dirty="0"/>
              <a:t>           </a:t>
            </a:r>
            <a:r>
              <a:rPr sz="1600" b="0" i="0" dirty="0">
                <a:solidFill>
                  <a:schemeClr val="accent1"/>
                </a:solidFill>
              </a:rPr>
              <a:t>Result: 40 outliers, 9 extremes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D430-FA92-5E06-588D-2EC020D7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SD: Typical Distance from the Mean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7D603249-7E97-D2E2-72CA-0F0FF0B6147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61E4C9AA-1102-9768-5E22-3C867B282BBE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1400000"/>
            <a:ext cx="10698786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/>
              <a:t>Five values: 2, 4, 4, 5, 10   (mean = 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6607" y="2000000"/>
            <a:ext cx="2554696" cy="2154902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6607" y="2160000"/>
            <a:ext cx="2094696" cy="1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dirty="0">
                <a:solidFill>
                  <a:schemeClr val="accent1"/>
                </a:solidFill>
              </a:rPr>
              <a:t>1  DISTANCE</a:t>
            </a:r>
          </a:p>
          <a:p>
            <a:pPr algn="l">
              <a:spcAft>
                <a:spcPts val="600"/>
              </a:spcAft>
            </a:pPr>
            <a:r>
              <a:rPr sz="1700" b="1" i="0" dirty="0"/>
              <a:t>x − mean</a:t>
            </a:r>
          </a:p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chemeClr val="accent1"/>
                </a:solidFill>
              </a:rPr>
              <a:t>−3, −1, −1, 0, 5  → sum = 0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81303" y="2900000"/>
            <a:ext cx="200000" cy="2600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61303" y="1999999"/>
            <a:ext cx="2554696" cy="2154903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91303" y="2160000"/>
            <a:ext cx="2094696" cy="1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dirty="0">
                <a:solidFill>
                  <a:schemeClr val="accent1"/>
                </a:solidFill>
              </a:rPr>
              <a:t>2  SQUARE &amp; ADD</a:t>
            </a:r>
          </a:p>
          <a:p>
            <a:pPr algn="l">
              <a:spcAft>
                <a:spcPts val="600"/>
              </a:spcAft>
            </a:pPr>
            <a:r>
              <a:rPr sz="1700" b="1" i="0" dirty="0"/>
              <a:t>SS = Σ(x − mean)²</a:t>
            </a:r>
          </a:p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chemeClr val="accent1"/>
                </a:solidFill>
              </a:rPr>
              <a:t>9 + 1 + 1 + 0 + 25 = 36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95999" y="2900000"/>
            <a:ext cx="200000" cy="2600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5999" y="2000000"/>
            <a:ext cx="2554696" cy="2154904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5999" y="2160000"/>
            <a:ext cx="2094696" cy="1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dirty="0">
                <a:solidFill>
                  <a:schemeClr val="accent1"/>
                </a:solidFill>
              </a:rPr>
              <a:t>3  VARIANCE</a:t>
            </a:r>
          </a:p>
          <a:p>
            <a:pPr algn="l">
              <a:spcAft>
                <a:spcPts val="600"/>
              </a:spcAft>
            </a:pPr>
            <a:r>
              <a:rPr sz="1700" b="1" i="0" dirty="0"/>
              <a:t>SS / (n − 1)</a:t>
            </a:r>
          </a:p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chemeClr val="accent1"/>
                </a:solidFill>
              </a:rPr>
              <a:t>36 / 4 = 9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10695" y="2900000"/>
            <a:ext cx="200000" cy="2600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890695" y="1999999"/>
            <a:ext cx="2554696" cy="2154905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20695" y="2160000"/>
            <a:ext cx="2094696" cy="18774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dirty="0">
                <a:solidFill>
                  <a:schemeClr val="accent1"/>
                </a:solidFill>
              </a:rPr>
              <a:t>4  SD</a:t>
            </a:r>
          </a:p>
          <a:p>
            <a:pPr algn="l">
              <a:spcAft>
                <a:spcPts val="600"/>
              </a:spcAft>
            </a:pPr>
            <a:r>
              <a:rPr sz="1700" b="1" i="0" dirty="0"/>
              <a:t>√variance</a:t>
            </a:r>
          </a:p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chemeClr val="accent1"/>
                </a:solidFill>
              </a:rPr>
              <a:t>√9 = 3</a:t>
            </a:r>
            <a:endParaRPr lang="tr-TR" sz="1600" b="1" dirty="0">
              <a:solidFill>
                <a:schemeClr val="accent1"/>
              </a:solidFill>
            </a:endParaRPr>
          </a:p>
          <a:p>
            <a:pPr algn="l">
              <a:spcAft>
                <a:spcPts val="600"/>
              </a:spcAft>
            </a:pPr>
            <a:r>
              <a:rPr lang="en-US" sz="1400" i="0" dirty="0"/>
              <a:t>That is the standard deviation: on average, a value is about 3 away from the mean.</a:t>
            </a:r>
            <a:endParaRPr sz="1400" i="0" dirty="0"/>
          </a:p>
        </p:txBody>
      </p:sp>
      <p:sp>
        <p:nvSpPr>
          <p:cNvPr id="20" name="TextBox 19"/>
          <p:cNvSpPr txBox="1"/>
          <p:nvPr/>
        </p:nvSpPr>
        <p:spPr>
          <a:xfrm>
            <a:off x="763112" y="4427704"/>
            <a:ext cx="10698786" cy="14311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In TGSS, the SD of age is 15.3: a typical person is about 15 years away from the mean age of 40. </a:t>
            </a:r>
            <a:endParaRPr lang="tr-TR" dirty="0"/>
          </a:p>
          <a:p>
            <a:pPr>
              <a:spcAft>
                <a:spcPts val="600"/>
              </a:spcAft>
            </a:pPr>
            <a:r>
              <a:rPr lang="en-US" dirty="0"/>
              <a:t>For commuting time the SD is 30 – as large as the mean itself. Very spread out</a:t>
            </a:r>
            <a:endParaRPr lang="tr-TR" sz="1800" b="1" i="0" dirty="0"/>
          </a:p>
          <a:p>
            <a:pPr algn="l">
              <a:spcAft>
                <a:spcPts val="600"/>
              </a:spcAft>
            </a:pPr>
            <a:r>
              <a:rPr sz="1800" b="1" i="0" dirty="0"/>
              <a:t>TGSS: </a:t>
            </a:r>
            <a:r>
              <a:rPr sz="1800" b="0" i="0" dirty="0"/>
              <a:t>age SD = 15.3 around 40.3.  comminute SD = 30.0 around 30.1 – as large as the mean.</a:t>
            </a:r>
          </a:p>
          <a:p>
            <a:pPr algn="l">
              <a:spcAft>
                <a:spcPts val="600"/>
              </a:spcAft>
            </a:pPr>
            <a:r>
              <a:rPr sz="1800" b="1" i="0" dirty="0">
                <a:solidFill>
                  <a:schemeClr val="accent1"/>
                </a:solidFill>
              </a:rPr>
              <a:t>Mean goes with SD. Median goes with IQR.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D430-FA92-5E06-588D-2EC020D7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z: Distance from the Mean, in SDs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7D603249-7E97-D2E2-72CA-0F0FF0B6147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61E4C9AA-1102-9768-5E22-3C867B282BBE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1450000"/>
            <a:ext cx="5349393" cy="42934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 dirty="0">
                <a:solidFill>
                  <a:schemeClr val="accent1"/>
                </a:solidFill>
              </a:rPr>
              <a:t>z = (value − mean) / SD</a:t>
            </a:r>
          </a:p>
          <a:p>
            <a:pPr algn="l">
              <a:spcAft>
                <a:spcPts val="600"/>
              </a:spcAft>
            </a:pPr>
            <a:r>
              <a:rPr sz="1800" b="0" i="0" dirty="0"/>
              <a:t>The mean becomes 0.</a:t>
            </a:r>
          </a:p>
          <a:p>
            <a:pPr algn="l">
              <a:spcAft>
                <a:spcPts val="600"/>
              </a:spcAft>
            </a:pPr>
            <a:r>
              <a:rPr sz="1800" b="0" i="0" dirty="0"/>
              <a:t>z = 2 → two SDs above the mean</a:t>
            </a:r>
          </a:p>
          <a:p>
            <a:pPr algn="l">
              <a:spcAft>
                <a:spcPts val="600"/>
              </a:spcAft>
            </a:pPr>
            <a:r>
              <a:rPr sz="1800" b="0" i="0" dirty="0"/>
              <a:t>z = −1 → one SD below the mean</a:t>
            </a:r>
          </a:p>
          <a:p>
            <a:pPr algn="l">
              <a:spcAft>
                <a:spcPts val="600"/>
              </a:spcAft>
            </a:pPr>
            <a:r>
              <a:rPr sz="1800" b="1" i="0" dirty="0"/>
              <a:t>A 70-year-old: </a:t>
            </a:r>
            <a:r>
              <a:rPr sz="1800" b="0" i="0" dirty="0"/>
              <a:t>(70 − 40.3) / 15.3 ≈ 2</a:t>
            </a:r>
          </a:p>
          <a:p>
            <a:pPr algn="l">
              <a:spcAft>
                <a:spcPts val="600"/>
              </a:spcAft>
            </a:pPr>
            <a:r>
              <a:rPr sz="1800" b="1" i="0" dirty="0">
                <a:solidFill>
                  <a:schemeClr val="accent2"/>
                </a:solidFill>
              </a:rPr>
              <a:t>Is z = 2 rare? How rare? Next week.</a:t>
            </a:r>
            <a:endParaRPr lang="tr-TR" sz="1800" b="1" i="0" dirty="0">
              <a:solidFill>
                <a:schemeClr val="accent2"/>
              </a:solidFill>
            </a:endParaRPr>
          </a:p>
          <a:p>
            <a:pPr algn="l">
              <a:spcAft>
                <a:spcPts val="600"/>
              </a:spcAft>
            </a:pPr>
            <a:endParaRPr lang="tr-TR" b="1" dirty="0">
              <a:solidFill>
                <a:schemeClr val="accent2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en-US" sz="1600" dirty="0"/>
              <a:t>A z-score tells us how far a person is from the mean – measured in SDs. </a:t>
            </a:r>
            <a:endParaRPr lang="tr-TR" sz="1600" dirty="0"/>
          </a:p>
          <a:p>
            <a:pPr algn="just">
              <a:spcAft>
                <a:spcPts val="600"/>
              </a:spcAft>
            </a:pPr>
            <a:r>
              <a:rPr lang="en-US" sz="1600" dirty="0"/>
              <a:t>When we turn a variable into z-scores, the mean becomes 0.</a:t>
            </a:r>
            <a:endParaRPr lang="tr-TR" sz="1600" dirty="0"/>
          </a:p>
          <a:p>
            <a:pPr algn="just">
              <a:spcAft>
                <a:spcPts val="600"/>
              </a:spcAft>
            </a:pPr>
            <a:r>
              <a:rPr lang="en-US" sz="1600" dirty="0"/>
              <a:t> z = 2 means two SDs above the mean; z = −1 means one SD below.”</a:t>
            </a:r>
            <a:endParaRPr sz="1600" b="1" i="0" dirty="0">
              <a:solidFill>
                <a:schemeClr val="accent2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16963" y="1450000"/>
            <a:ext cx="5028429" cy="3700000"/>
          </a:xfrm>
          <a:prstGeom prst="roundRect">
            <a:avLst>
              <a:gd name="adj" fmla="val 3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00000" rIns="250000" rtlCol="0" anchor="t"/>
          <a:lstStyle/>
          <a:p>
            <a:pPr algn="l"/>
            <a:r>
              <a:rPr sz="1500">
                <a:solidFill>
                  <a:srgbClr val="1A1A1A"/>
                </a:solidFill>
                <a:latin typeface="Courier New"/>
              </a:rPr>
              <a:t>* 1. Our own formula.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urier New"/>
              </a:rPr>
              <a:t>COMPUTE z_age =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urier New"/>
              </a:rPr>
              <a:t>  (age - 40.29) / 15.27.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urier New"/>
              </a:rPr>
              <a:t>EXECUTE.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urier New"/>
              </a:rPr>
              <a:t>* 2. SPSS does it for us.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urier New"/>
              </a:rPr>
              <a:t>DESCRIPTIVES VARIABLES=age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urier New"/>
              </a:rPr>
              <a:t>  /SAVE.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urier New"/>
              </a:rPr>
              <a:t>* Compare z_age and Zage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urier New"/>
              </a:rPr>
              <a:t>* in Data 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D430-FA92-5E06-588D-2EC020D7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Which Summary for Which Variable?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7D603249-7E97-D2E2-72CA-0F0FF0B6147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61E4C9AA-1102-9768-5E22-3C867B282BBE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6607" y="1650000"/>
          <a:ext cx="10698784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800" b="1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Central tendency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Dispersion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TGSS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800" b="1"/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Frequencies,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gender, nuts1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800" b="1"/>
                        <a:t>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IQR,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degree, lifesat, age4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800" b="1"/>
                        <a:t>Scale, roughly symmetric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800" b="1"/>
                        <a:t>Scale, skewed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Median (+ mean)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IQR (+ 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comminute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6607" y="4750000"/>
            <a:ext cx="10698786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chemeClr val="accent1"/>
                </a:solidFill>
              </a:rPr>
              <a:t>The typical worker needs 20 minutes.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55555"/>
                </a:solidFill>
              </a:rPr>
              <a:t>Next week: How rare is z = 2? Is age normal? And a life satisfaction index.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5459-70FC-F900-930F-4471FC56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 3: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B2BAE-79E6-7293-343E-2F17856EF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58487"/>
          </a:xfrm>
        </p:spPr>
        <p:txBody>
          <a:bodyPr/>
          <a:lstStyle/>
          <a:p>
            <a:r>
              <a:rPr b="0"/>
              <a:t>Open TGSS 2024 and your syntax file from class</a:t>
            </a:r>
            <a:endParaRPr lang="en-US" dirty="0"/>
          </a:p>
          <a:p>
            <a:r>
              <a:rPr b="0"/>
              <a:t>Work through the Week 3 worksheet – in pairs, in breakout rooms</a:t>
            </a:r>
            <a:endParaRPr lang="en-US" dirty="0"/>
          </a:p>
          <a:p>
            <a:r>
              <a:rPr b="0"/>
              <a:t>Save your syntax as W3_name.sps</a:t>
            </a:r>
            <a:endParaRPr lang="en-US" dirty="0"/>
          </a:p>
          <a:p>
            <a:r>
              <a:rPr b="0"/>
              <a:t>Ask in the chat or in your breakout room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4B37D456-C99D-0B84-101F-D7963F1F9E92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lt Başlık 2">
            <a:extLst>
              <a:ext uri="{FF2B5EF4-FFF2-40B4-BE49-F238E27FC236}">
                <a16:creationId xmlns:a16="http://schemas.microsoft.com/office/drawing/2014/main" id="{F78871A7-AD47-9358-998C-4D5BEC1B26C8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38308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2668</TotalTime>
  <Words>1471</Words>
  <Application>Microsoft Office PowerPoint</Application>
  <PresentationFormat>Widescreen</PresentationFormat>
  <Paragraphs>293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Times New Roman</vt:lpstr>
      <vt:lpstr>Office Theme</vt:lpstr>
      <vt:lpstr>PowerPoint Presentation</vt:lpstr>
      <vt:lpstr>Outline</vt:lpstr>
      <vt:lpstr>One Data Set, Two Views</vt:lpstr>
      <vt:lpstr>Practice A1: What Kind of Variable?</vt:lpstr>
      <vt:lpstr>Practice A2 and B1</vt:lpstr>
      <vt:lpstr>Syntax: Practice C1 in Code</vt:lpstr>
      <vt:lpstr>Getting to Work: 30 or 20 Minutes?</vt:lpstr>
      <vt:lpstr>Centre, Shape, Spread</vt:lpstr>
      <vt:lpstr>Central Tendency</vt:lpstr>
      <vt:lpstr>Why Do They Differ? The Shape</vt:lpstr>
      <vt:lpstr>Dispersion: Range and Inter Quartile Range (IQR)</vt:lpstr>
      <vt:lpstr>The Boxplot: a Picture of the IQR</vt:lpstr>
      <vt:lpstr>SD: Typical Distance from the Mean</vt:lpstr>
      <vt:lpstr>z: Distance from the Mean, in SDs</vt:lpstr>
      <vt:lpstr>Which Summary for Which Variable?</vt:lpstr>
      <vt:lpstr>Part 3: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Ramazan Ceyhan</dc:creator>
  <cp:lastModifiedBy>Ramazan Ceyhan</cp:lastModifiedBy>
  <cp:revision>86</cp:revision>
  <dcterms:created xsi:type="dcterms:W3CDTF">2026-09-18T16:34:36Z</dcterms:created>
  <dcterms:modified xsi:type="dcterms:W3CDTF">2026-10-15T12:37:31Z</dcterms:modified>
</cp:coreProperties>
</file>